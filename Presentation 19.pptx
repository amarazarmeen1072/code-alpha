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F92850-0108-6F95-2149-77C2F0539EF0}" v="273" dt="2026-06-16T17:58:46.4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A98B7B-4215-4AA0-A20E-0B6B9D4E1DE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6629865-CB40-4FA9-9D3F-D7F90F884E2D}">
      <dgm:prSet/>
      <dgm:spPr/>
      <dgm:t>
        <a:bodyPr/>
        <a:lstStyle/>
        <a:p>
          <a:r>
            <a:rPr lang="en-US" b="1"/>
            <a:t>Spikevax (mRNA-1273)</a:t>
          </a:r>
          <a:endParaRPr lang="en-US"/>
        </a:p>
      </dgm:t>
    </dgm:pt>
    <dgm:pt modelId="{2FBE5A3A-C6A4-403F-9935-5C557BD60CA1}" type="parTrans" cxnId="{116A3819-A073-4843-971E-863AA5A86F23}">
      <dgm:prSet/>
      <dgm:spPr/>
      <dgm:t>
        <a:bodyPr/>
        <a:lstStyle/>
        <a:p>
          <a:endParaRPr lang="en-US"/>
        </a:p>
      </dgm:t>
    </dgm:pt>
    <dgm:pt modelId="{47D7DECB-60C0-4E08-B172-3A87ABEB98EF}" type="sibTrans" cxnId="{116A3819-A073-4843-971E-863AA5A86F23}">
      <dgm:prSet/>
      <dgm:spPr/>
      <dgm:t>
        <a:bodyPr/>
        <a:lstStyle/>
        <a:p>
          <a:endParaRPr lang="en-US"/>
        </a:p>
      </dgm:t>
    </dgm:pt>
    <dgm:pt modelId="{DF86077B-B0C1-44A0-B044-43893A860E2C}">
      <dgm:prSet/>
      <dgm:spPr/>
      <dgm:t>
        <a:bodyPr/>
        <a:lstStyle/>
        <a:p>
          <a:r>
            <a:rPr lang="en-US"/>
            <a:t>Spikevax is Moderna's most successful product and one of the first commercially available mRNA vaccines. The vaccine contains mRNA instructions that enable human cells to produce the spike protein found on the surface of SARS-CoV-2, the virus responsible for COVID-19.</a:t>
          </a:r>
        </a:p>
      </dgm:t>
    </dgm:pt>
    <dgm:pt modelId="{5235CDE3-14CB-4E17-94B2-3B38F2E7EB2E}" type="parTrans" cxnId="{3DBE3E2D-DD8E-45F5-B120-98DD22A5877E}">
      <dgm:prSet/>
      <dgm:spPr/>
      <dgm:t>
        <a:bodyPr/>
        <a:lstStyle/>
        <a:p>
          <a:endParaRPr lang="en-US"/>
        </a:p>
      </dgm:t>
    </dgm:pt>
    <dgm:pt modelId="{1D584139-F44D-47B0-A5FE-F0B686D8996E}" type="sibTrans" cxnId="{3DBE3E2D-DD8E-45F5-B120-98DD22A5877E}">
      <dgm:prSet/>
      <dgm:spPr/>
      <dgm:t>
        <a:bodyPr/>
        <a:lstStyle/>
        <a:p>
          <a:endParaRPr lang="en-US"/>
        </a:p>
      </dgm:t>
    </dgm:pt>
    <dgm:pt modelId="{3A1EAEA6-A3F2-49F9-8DC8-914875573CB4}">
      <dgm:prSet/>
      <dgm:spPr/>
      <dgm:t>
        <a:bodyPr/>
        <a:lstStyle/>
        <a:p>
          <a:r>
            <a:rPr lang="en-US"/>
            <a:t>The immune system recognizes this protein as foreign and develops antibodies and immune cells capable of responding rapidly to future infections. Clinical studies demonstrated high effectiveness against severe COVID-19, establishing mRNA technology as a viable and powerful platform for vaccine development.</a:t>
          </a:r>
        </a:p>
      </dgm:t>
    </dgm:pt>
    <dgm:pt modelId="{A67AC81A-88B1-4F67-BDE7-81DAA28F04D5}" type="parTrans" cxnId="{624FCE6E-371E-4884-97CD-FC5C13B8FB78}">
      <dgm:prSet/>
      <dgm:spPr/>
      <dgm:t>
        <a:bodyPr/>
        <a:lstStyle/>
        <a:p>
          <a:endParaRPr lang="en-US"/>
        </a:p>
      </dgm:t>
    </dgm:pt>
    <dgm:pt modelId="{961644E7-754C-47BC-A381-E2B87E8C58B5}" type="sibTrans" cxnId="{624FCE6E-371E-4884-97CD-FC5C13B8FB78}">
      <dgm:prSet/>
      <dgm:spPr/>
      <dgm:t>
        <a:bodyPr/>
        <a:lstStyle/>
        <a:p>
          <a:endParaRPr lang="en-US"/>
        </a:p>
      </dgm:t>
    </dgm:pt>
    <dgm:pt modelId="{5F595DD6-E974-4F3F-9408-1CA6F442C5D0}" type="pres">
      <dgm:prSet presAssocID="{9FA98B7B-4215-4AA0-A20E-0B6B9D4E1DE5}" presName="linear" presStyleCnt="0">
        <dgm:presLayoutVars>
          <dgm:animLvl val="lvl"/>
          <dgm:resizeHandles val="exact"/>
        </dgm:presLayoutVars>
      </dgm:prSet>
      <dgm:spPr/>
    </dgm:pt>
    <dgm:pt modelId="{1005763A-B99A-4388-B8D9-EA1C2113AAC1}" type="pres">
      <dgm:prSet presAssocID="{66629865-CB40-4FA9-9D3F-D7F90F884E2D}" presName="parentText" presStyleLbl="node1" presStyleIdx="0" presStyleCnt="3">
        <dgm:presLayoutVars>
          <dgm:chMax val="0"/>
          <dgm:bulletEnabled val="1"/>
        </dgm:presLayoutVars>
      </dgm:prSet>
      <dgm:spPr/>
    </dgm:pt>
    <dgm:pt modelId="{6A849FF8-6AA4-4D73-8119-B9F63A571F1B}" type="pres">
      <dgm:prSet presAssocID="{47D7DECB-60C0-4E08-B172-3A87ABEB98EF}" presName="spacer" presStyleCnt="0"/>
      <dgm:spPr/>
    </dgm:pt>
    <dgm:pt modelId="{C891BC96-27A8-438A-B776-1795CF4D0B2C}" type="pres">
      <dgm:prSet presAssocID="{DF86077B-B0C1-44A0-B044-43893A860E2C}" presName="parentText" presStyleLbl="node1" presStyleIdx="1" presStyleCnt="3">
        <dgm:presLayoutVars>
          <dgm:chMax val="0"/>
          <dgm:bulletEnabled val="1"/>
        </dgm:presLayoutVars>
      </dgm:prSet>
      <dgm:spPr/>
    </dgm:pt>
    <dgm:pt modelId="{595EDB25-0130-4E58-BA13-2DA5D4B0383B}" type="pres">
      <dgm:prSet presAssocID="{1D584139-F44D-47B0-A5FE-F0B686D8996E}" presName="spacer" presStyleCnt="0"/>
      <dgm:spPr/>
    </dgm:pt>
    <dgm:pt modelId="{93461A37-5019-4DF5-8388-89BE4DBB78BF}" type="pres">
      <dgm:prSet presAssocID="{3A1EAEA6-A3F2-49F9-8DC8-914875573CB4}" presName="parentText" presStyleLbl="node1" presStyleIdx="2" presStyleCnt="3">
        <dgm:presLayoutVars>
          <dgm:chMax val="0"/>
          <dgm:bulletEnabled val="1"/>
        </dgm:presLayoutVars>
      </dgm:prSet>
      <dgm:spPr/>
    </dgm:pt>
  </dgm:ptLst>
  <dgm:cxnLst>
    <dgm:cxn modelId="{116A3819-A073-4843-971E-863AA5A86F23}" srcId="{9FA98B7B-4215-4AA0-A20E-0B6B9D4E1DE5}" destId="{66629865-CB40-4FA9-9D3F-D7F90F884E2D}" srcOrd="0" destOrd="0" parTransId="{2FBE5A3A-C6A4-403F-9935-5C557BD60CA1}" sibTransId="{47D7DECB-60C0-4E08-B172-3A87ABEB98EF}"/>
    <dgm:cxn modelId="{3DBE3E2D-DD8E-45F5-B120-98DD22A5877E}" srcId="{9FA98B7B-4215-4AA0-A20E-0B6B9D4E1DE5}" destId="{DF86077B-B0C1-44A0-B044-43893A860E2C}" srcOrd="1" destOrd="0" parTransId="{5235CDE3-14CB-4E17-94B2-3B38F2E7EB2E}" sibTransId="{1D584139-F44D-47B0-A5FE-F0B686D8996E}"/>
    <dgm:cxn modelId="{31540E5C-F2BE-4EB0-81B7-A740D10F186B}" type="presOf" srcId="{3A1EAEA6-A3F2-49F9-8DC8-914875573CB4}" destId="{93461A37-5019-4DF5-8388-89BE4DBB78BF}" srcOrd="0" destOrd="0" presId="urn:microsoft.com/office/officeart/2005/8/layout/vList2"/>
    <dgm:cxn modelId="{6BCAF166-E4BF-433E-8664-E257B6A82BBC}" type="presOf" srcId="{9FA98B7B-4215-4AA0-A20E-0B6B9D4E1DE5}" destId="{5F595DD6-E974-4F3F-9408-1CA6F442C5D0}" srcOrd="0" destOrd="0" presId="urn:microsoft.com/office/officeart/2005/8/layout/vList2"/>
    <dgm:cxn modelId="{BCF08447-BE93-48F1-8D1A-73695735C2A6}" type="presOf" srcId="{66629865-CB40-4FA9-9D3F-D7F90F884E2D}" destId="{1005763A-B99A-4388-B8D9-EA1C2113AAC1}" srcOrd="0" destOrd="0" presId="urn:microsoft.com/office/officeart/2005/8/layout/vList2"/>
    <dgm:cxn modelId="{624FCE6E-371E-4884-97CD-FC5C13B8FB78}" srcId="{9FA98B7B-4215-4AA0-A20E-0B6B9D4E1DE5}" destId="{3A1EAEA6-A3F2-49F9-8DC8-914875573CB4}" srcOrd="2" destOrd="0" parTransId="{A67AC81A-88B1-4F67-BDE7-81DAA28F04D5}" sibTransId="{961644E7-754C-47BC-A381-E2B87E8C58B5}"/>
    <dgm:cxn modelId="{028125B5-D3BB-4C94-9F3B-85A89B020141}" type="presOf" srcId="{DF86077B-B0C1-44A0-B044-43893A860E2C}" destId="{C891BC96-27A8-438A-B776-1795CF4D0B2C}" srcOrd="0" destOrd="0" presId="urn:microsoft.com/office/officeart/2005/8/layout/vList2"/>
    <dgm:cxn modelId="{0E8737E5-7740-47BA-BF13-DFC375CD0192}" type="presParOf" srcId="{5F595DD6-E974-4F3F-9408-1CA6F442C5D0}" destId="{1005763A-B99A-4388-B8D9-EA1C2113AAC1}" srcOrd="0" destOrd="0" presId="urn:microsoft.com/office/officeart/2005/8/layout/vList2"/>
    <dgm:cxn modelId="{F534064A-FDBC-4F70-BD6B-186AB0071F34}" type="presParOf" srcId="{5F595DD6-E974-4F3F-9408-1CA6F442C5D0}" destId="{6A849FF8-6AA4-4D73-8119-B9F63A571F1B}" srcOrd="1" destOrd="0" presId="urn:microsoft.com/office/officeart/2005/8/layout/vList2"/>
    <dgm:cxn modelId="{6C0F877D-F2A5-48A1-B8D8-9532F42C0706}" type="presParOf" srcId="{5F595DD6-E974-4F3F-9408-1CA6F442C5D0}" destId="{C891BC96-27A8-438A-B776-1795CF4D0B2C}" srcOrd="2" destOrd="0" presId="urn:microsoft.com/office/officeart/2005/8/layout/vList2"/>
    <dgm:cxn modelId="{F94BBF74-7AAB-4634-A030-D5C84A7428B7}" type="presParOf" srcId="{5F595DD6-E974-4F3F-9408-1CA6F442C5D0}" destId="{595EDB25-0130-4E58-BA13-2DA5D4B0383B}" srcOrd="3" destOrd="0" presId="urn:microsoft.com/office/officeart/2005/8/layout/vList2"/>
    <dgm:cxn modelId="{E63240C9-2FD7-4233-93A1-89077E17BBB2}" type="presParOf" srcId="{5F595DD6-E974-4F3F-9408-1CA6F442C5D0}" destId="{93461A37-5019-4DF5-8388-89BE4DBB78BF}"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EF7D14C-C839-4A83-A47E-17B70FB408FF}"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B3906A14-A2B5-4453-B4BE-76376C62F671}">
      <dgm:prSet/>
      <dgm:spPr/>
      <dgm:t>
        <a:bodyPr/>
        <a:lstStyle/>
        <a:p>
          <a:r>
            <a:rPr lang="en-US"/>
            <a:t>The biotechnology process begins with identifying a protein that can prevent or treat a disease. Scientists then design an mRNA sequence containing instructions for producing that protein. The synthetic mRNA is enclosed within lipid nanoparticles that protect it from degradation and facilitate its delivery into cells.</a:t>
          </a:r>
        </a:p>
      </dgm:t>
    </dgm:pt>
    <dgm:pt modelId="{083974A2-3B4A-4E39-A2E1-A43D02F24D3E}" type="parTrans" cxnId="{6C4F1E67-144B-4320-96EC-5316B8BEAC51}">
      <dgm:prSet/>
      <dgm:spPr/>
      <dgm:t>
        <a:bodyPr/>
        <a:lstStyle/>
        <a:p>
          <a:endParaRPr lang="en-US"/>
        </a:p>
      </dgm:t>
    </dgm:pt>
    <dgm:pt modelId="{24ECBC80-CC98-4914-AAB7-949A13D250C6}" type="sibTrans" cxnId="{6C4F1E67-144B-4320-96EC-5316B8BEAC51}">
      <dgm:prSet/>
      <dgm:spPr/>
      <dgm:t>
        <a:bodyPr/>
        <a:lstStyle/>
        <a:p>
          <a:endParaRPr lang="en-US"/>
        </a:p>
      </dgm:t>
    </dgm:pt>
    <dgm:pt modelId="{82D5D4D7-AD52-4A33-B761-822AD6B0596C}">
      <dgm:prSet/>
      <dgm:spPr/>
      <dgm:t>
        <a:bodyPr/>
        <a:lstStyle/>
        <a:p>
          <a:r>
            <a:rPr lang="en-US"/>
            <a:t>Once inside the cell, the mRNA is translated into the desired protein by cellular machinery. The immune system recognizes this protein and generates a protective response, including antibody production and immune memory. The mRNA itself does not alter the patient's DNA and is naturally degraded after protein production.</a:t>
          </a:r>
        </a:p>
      </dgm:t>
    </dgm:pt>
    <dgm:pt modelId="{F6EFE07A-CC97-45A9-87EC-3F9A71073CA8}" type="parTrans" cxnId="{9871417F-9EF4-4654-82F7-8A4856DC3434}">
      <dgm:prSet/>
      <dgm:spPr/>
      <dgm:t>
        <a:bodyPr/>
        <a:lstStyle/>
        <a:p>
          <a:endParaRPr lang="en-US"/>
        </a:p>
      </dgm:t>
    </dgm:pt>
    <dgm:pt modelId="{DF9BF5D7-A5EA-496D-8D03-FFE3708CA097}" type="sibTrans" cxnId="{9871417F-9EF4-4654-82F7-8A4856DC3434}">
      <dgm:prSet/>
      <dgm:spPr/>
      <dgm:t>
        <a:bodyPr/>
        <a:lstStyle/>
        <a:p>
          <a:endParaRPr lang="en-US"/>
        </a:p>
      </dgm:t>
    </dgm:pt>
    <dgm:pt modelId="{6A9A5272-CA53-4263-A2EE-634F35C0179D}" type="pres">
      <dgm:prSet presAssocID="{FEF7D14C-C839-4A83-A47E-17B70FB408FF}" presName="hierChild1" presStyleCnt="0">
        <dgm:presLayoutVars>
          <dgm:chPref val="1"/>
          <dgm:dir/>
          <dgm:animOne val="branch"/>
          <dgm:animLvl val="lvl"/>
          <dgm:resizeHandles/>
        </dgm:presLayoutVars>
      </dgm:prSet>
      <dgm:spPr/>
    </dgm:pt>
    <dgm:pt modelId="{E6ABE07F-7DA5-41F9-8B4F-7DDCC604A937}" type="pres">
      <dgm:prSet presAssocID="{B3906A14-A2B5-4453-B4BE-76376C62F671}" presName="hierRoot1" presStyleCnt="0"/>
      <dgm:spPr/>
    </dgm:pt>
    <dgm:pt modelId="{DB84BD57-8D70-438A-A6CD-7809E25D71CE}" type="pres">
      <dgm:prSet presAssocID="{B3906A14-A2B5-4453-B4BE-76376C62F671}" presName="composite" presStyleCnt="0"/>
      <dgm:spPr/>
    </dgm:pt>
    <dgm:pt modelId="{46B095F6-9306-4C08-BC34-F46F2B522862}" type="pres">
      <dgm:prSet presAssocID="{B3906A14-A2B5-4453-B4BE-76376C62F671}" presName="background" presStyleLbl="node0" presStyleIdx="0" presStyleCnt="2"/>
      <dgm:spPr/>
    </dgm:pt>
    <dgm:pt modelId="{90A389D0-48F6-482A-9FC8-057236A62B3D}" type="pres">
      <dgm:prSet presAssocID="{B3906A14-A2B5-4453-B4BE-76376C62F671}" presName="text" presStyleLbl="fgAcc0" presStyleIdx="0" presStyleCnt="2">
        <dgm:presLayoutVars>
          <dgm:chPref val="3"/>
        </dgm:presLayoutVars>
      </dgm:prSet>
      <dgm:spPr/>
    </dgm:pt>
    <dgm:pt modelId="{E900EFC7-DF5A-4CE7-8289-1547A1D99A54}" type="pres">
      <dgm:prSet presAssocID="{B3906A14-A2B5-4453-B4BE-76376C62F671}" presName="hierChild2" presStyleCnt="0"/>
      <dgm:spPr/>
    </dgm:pt>
    <dgm:pt modelId="{1C4ADF5E-8BAD-467E-8C75-1EE626FCB95A}" type="pres">
      <dgm:prSet presAssocID="{82D5D4D7-AD52-4A33-B761-822AD6B0596C}" presName="hierRoot1" presStyleCnt="0"/>
      <dgm:spPr/>
    </dgm:pt>
    <dgm:pt modelId="{A3C18026-D935-4340-8601-69BC13216389}" type="pres">
      <dgm:prSet presAssocID="{82D5D4D7-AD52-4A33-B761-822AD6B0596C}" presName="composite" presStyleCnt="0"/>
      <dgm:spPr/>
    </dgm:pt>
    <dgm:pt modelId="{F4C634A6-6AA8-421C-8876-824847CD3FAD}" type="pres">
      <dgm:prSet presAssocID="{82D5D4D7-AD52-4A33-B761-822AD6B0596C}" presName="background" presStyleLbl="node0" presStyleIdx="1" presStyleCnt="2"/>
      <dgm:spPr/>
    </dgm:pt>
    <dgm:pt modelId="{E73C8F65-3613-4956-9A25-9A6E2DB7C1B1}" type="pres">
      <dgm:prSet presAssocID="{82D5D4D7-AD52-4A33-B761-822AD6B0596C}" presName="text" presStyleLbl="fgAcc0" presStyleIdx="1" presStyleCnt="2">
        <dgm:presLayoutVars>
          <dgm:chPref val="3"/>
        </dgm:presLayoutVars>
      </dgm:prSet>
      <dgm:spPr/>
    </dgm:pt>
    <dgm:pt modelId="{56511515-2AD4-4676-8101-98ADA719D84F}" type="pres">
      <dgm:prSet presAssocID="{82D5D4D7-AD52-4A33-B761-822AD6B0596C}" presName="hierChild2" presStyleCnt="0"/>
      <dgm:spPr/>
    </dgm:pt>
  </dgm:ptLst>
  <dgm:cxnLst>
    <dgm:cxn modelId="{9D9B1E15-FEBA-4BCE-9BAB-0611E6ED4EAF}" type="presOf" srcId="{B3906A14-A2B5-4453-B4BE-76376C62F671}" destId="{90A389D0-48F6-482A-9FC8-057236A62B3D}" srcOrd="0" destOrd="0" presId="urn:microsoft.com/office/officeart/2005/8/layout/hierarchy1"/>
    <dgm:cxn modelId="{DC3EBD2F-2A92-4903-BCCE-67BBDC01DF2D}" type="presOf" srcId="{82D5D4D7-AD52-4A33-B761-822AD6B0596C}" destId="{E73C8F65-3613-4956-9A25-9A6E2DB7C1B1}" srcOrd="0" destOrd="0" presId="urn:microsoft.com/office/officeart/2005/8/layout/hierarchy1"/>
    <dgm:cxn modelId="{6C4F1E67-144B-4320-96EC-5316B8BEAC51}" srcId="{FEF7D14C-C839-4A83-A47E-17B70FB408FF}" destId="{B3906A14-A2B5-4453-B4BE-76376C62F671}" srcOrd="0" destOrd="0" parTransId="{083974A2-3B4A-4E39-A2E1-A43D02F24D3E}" sibTransId="{24ECBC80-CC98-4914-AAB7-949A13D250C6}"/>
    <dgm:cxn modelId="{9871417F-9EF4-4654-82F7-8A4856DC3434}" srcId="{FEF7D14C-C839-4A83-A47E-17B70FB408FF}" destId="{82D5D4D7-AD52-4A33-B761-822AD6B0596C}" srcOrd="1" destOrd="0" parTransId="{F6EFE07A-CC97-45A9-87EC-3F9A71073CA8}" sibTransId="{DF9BF5D7-A5EA-496D-8D03-FFE3708CA097}"/>
    <dgm:cxn modelId="{26AF6B92-A901-44BE-BED9-C4A0EECAC1F8}" type="presOf" srcId="{FEF7D14C-C839-4A83-A47E-17B70FB408FF}" destId="{6A9A5272-CA53-4263-A2EE-634F35C0179D}" srcOrd="0" destOrd="0" presId="urn:microsoft.com/office/officeart/2005/8/layout/hierarchy1"/>
    <dgm:cxn modelId="{29F6A294-17C7-4208-BF6A-7D1D07AD3BE0}" type="presParOf" srcId="{6A9A5272-CA53-4263-A2EE-634F35C0179D}" destId="{E6ABE07F-7DA5-41F9-8B4F-7DDCC604A937}" srcOrd="0" destOrd="0" presId="urn:microsoft.com/office/officeart/2005/8/layout/hierarchy1"/>
    <dgm:cxn modelId="{9369CCD3-60A0-46E0-BF03-71C34649EC0E}" type="presParOf" srcId="{E6ABE07F-7DA5-41F9-8B4F-7DDCC604A937}" destId="{DB84BD57-8D70-438A-A6CD-7809E25D71CE}" srcOrd="0" destOrd="0" presId="urn:microsoft.com/office/officeart/2005/8/layout/hierarchy1"/>
    <dgm:cxn modelId="{F640DAE2-C076-4CC4-A552-F86893A56EE7}" type="presParOf" srcId="{DB84BD57-8D70-438A-A6CD-7809E25D71CE}" destId="{46B095F6-9306-4C08-BC34-F46F2B522862}" srcOrd="0" destOrd="0" presId="urn:microsoft.com/office/officeart/2005/8/layout/hierarchy1"/>
    <dgm:cxn modelId="{B32DA368-3766-42BD-9D43-FE5DA111C8DD}" type="presParOf" srcId="{DB84BD57-8D70-438A-A6CD-7809E25D71CE}" destId="{90A389D0-48F6-482A-9FC8-057236A62B3D}" srcOrd="1" destOrd="0" presId="urn:microsoft.com/office/officeart/2005/8/layout/hierarchy1"/>
    <dgm:cxn modelId="{904E9792-2EBF-4C84-9370-AAAAD7F44492}" type="presParOf" srcId="{E6ABE07F-7DA5-41F9-8B4F-7DDCC604A937}" destId="{E900EFC7-DF5A-4CE7-8289-1547A1D99A54}" srcOrd="1" destOrd="0" presId="urn:microsoft.com/office/officeart/2005/8/layout/hierarchy1"/>
    <dgm:cxn modelId="{131B45C3-790F-406A-89D9-9D59E57E22BB}" type="presParOf" srcId="{6A9A5272-CA53-4263-A2EE-634F35C0179D}" destId="{1C4ADF5E-8BAD-467E-8C75-1EE626FCB95A}" srcOrd="1" destOrd="0" presId="urn:microsoft.com/office/officeart/2005/8/layout/hierarchy1"/>
    <dgm:cxn modelId="{791A5E40-1419-47AA-9B80-ED36176440B0}" type="presParOf" srcId="{1C4ADF5E-8BAD-467E-8C75-1EE626FCB95A}" destId="{A3C18026-D935-4340-8601-69BC13216389}" srcOrd="0" destOrd="0" presId="urn:microsoft.com/office/officeart/2005/8/layout/hierarchy1"/>
    <dgm:cxn modelId="{1BA8509F-83F8-4CA2-AECC-35ACDF1854AB}" type="presParOf" srcId="{A3C18026-D935-4340-8601-69BC13216389}" destId="{F4C634A6-6AA8-421C-8876-824847CD3FAD}" srcOrd="0" destOrd="0" presId="urn:microsoft.com/office/officeart/2005/8/layout/hierarchy1"/>
    <dgm:cxn modelId="{5191E010-B6CD-4AD8-8D48-ACF61559236A}" type="presParOf" srcId="{A3C18026-D935-4340-8601-69BC13216389}" destId="{E73C8F65-3613-4956-9A25-9A6E2DB7C1B1}" srcOrd="1" destOrd="0" presId="urn:microsoft.com/office/officeart/2005/8/layout/hierarchy1"/>
    <dgm:cxn modelId="{6BB917AB-9E60-4040-AC7A-4AF3860DB0D2}" type="presParOf" srcId="{1C4ADF5E-8BAD-467E-8C75-1EE626FCB95A}" destId="{56511515-2AD4-4676-8101-98ADA719D84F}"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DFBE7A6-7686-4C98-8156-FB51F8546D26}"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CC0DAC46-A48D-46C6-B13A-03E5260F717E}">
      <dgm:prSet/>
      <dgm:spPr/>
      <dgm:t>
        <a:bodyPr/>
        <a:lstStyle/>
        <a:p>
          <a:r>
            <a:rPr lang="en-US"/>
            <a:t>Global Impact</a:t>
          </a:r>
        </a:p>
      </dgm:t>
    </dgm:pt>
    <dgm:pt modelId="{3E136DA7-8264-41B9-A171-9037265C8242}" type="parTrans" cxnId="{CA338248-B383-48C2-B432-18B82162F961}">
      <dgm:prSet/>
      <dgm:spPr/>
      <dgm:t>
        <a:bodyPr/>
        <a:lstStyle/>
        <a:p>
          <a:endParaRPr lang="en-US"/>
        </a:p>
      </dgm:t>
    </dgm:pt>
    <dgm:pt modelId="{7738A49B-6565-4E5D-B7C5-F1E5EA419BDF}" type="sibTrans" cxnId="{CA338248-B383-48C2-B432-18B82162F961}">
      <dgm:prSet/>
      <dgm:spPr/>
      <dgm:t>
        <a:bodyPr/>
        <a:lstStyle/>
        <a:p>
          <a:endParaRPr lang="en-US"/>
        </a:p>
      </dgm:t>
    </dgm:pt>
    <dgm:pt modelId="{1D9077F8-6FD8-4BCC-9A7A-FB04A37B2B02}">
      <dgm:prSet/>
      <dgm:spPr/>
      <dgm:t>
        <a:bodyPr/>
        <a:lstStyle/>
        <a:p>
          <a:r>
            <a:rPr lang="en-US"/>
            <a:t>Accelerated vaccine development during the pandemic. </a:t>
          </a:r>
        </a:p>
      </dgm:t>
    </dgm:pt>
    <dgm:pt modelId="{0E639576-9CF3-4E08-A71C-9FB0EBC6D540}" type="parTrans" cxnId="{EDA68FBB-2346-420D-8B4C-E55D92178CCE}">
      <dgm:prSet/>
      <dgm:spPr/>
      <dgm:t>
        <a:bodyPr/>
        <a:lstStyle/>
        <a:p>
          <a:endParaRPr lang="en-US"/>
        </a:p>
      </dgm:t>
    </dgm:pt>
    <dgm:pt modelId="{59912A25-B942-4B9B-9668-6066287972F3}" type="sibTrans" cxnId="{EDA68FBB-2346-420D-8B4C-E55D92178CCE}">
      <dgm:prSet/>
      <dgm:spPr/>
      <dgm:t>
        <a:bodyPr/>
        <a:lstStyle/>
        <a:p>
          <a:endParaRPr lang="en-US"/>
        </a:p>
      </dgm:t>
    </dgm:pt>
    <dgm:pt modelId="{AB5E3819-6E70-49C1-89CB-11FBD510A7C9}">
      <dgm:prSet/>
      <dgm:spPr/>
      <dgm:t>
        <a:bodyPr/>
        <a:lstStyle/>
        <a:p>
          <a:r>
            <a:rPr lang="en-US"/>
            <a:t>Increased confidence in mRNA technology. </a:t>
          </a:r>
        </a:p>
      </dgm:t>
    </dgm:pt>
    <dgm:pt modelId="{2FE288A9-5AEA-4C41-9194-5B300A10CB25}" type="parTrans" cxnId="{00751C52-D4A3-4881-93D1-ED64A9C387D6}">
      <dgm:prSet/>
      <dgm:spPr/>
      <dgm:t>
        <a:bodyPr/>
        <a:lstStyle/>
        <a:p>
          <a:endParaRPr lang="en-US"/>
        </a:p>
      </dgm:t>
    </dgm:pt>
    <dgm:pt modelId="{77E717C4-5237-4F95-A364-E979E97DD3FB}" type="sibTrans" cxnId="{00751C52-D4A3-4881-93D1-ED64A9C387D6}">
      <dgm:prSet/>
      <dgm:spPr/>
      <dgm:t>
        <a:bodyPr/>
        <a:lstStyle/>
        <a:p>
          <a:endParaRPr lang="en-US"/>
        </a:p>
      </dgm:t>
    </dgm:pt>
    <dgm:pt modelId="{2FDB2594-1319-4FA8-932E-352779CAB414}">
      <dgm:prSet/>
      <dgm:spPr/>
      <dgm:t>
        <a:bodyPr/>
        <a:lstStyle/>
        <a:p>
          <a:r>
            <a:rPr lang="en-US"/>
            <a:t>Encouraged investment in biotechnology. </a:t>
          </a:r>
        </a:p>
      </dgm:t>
    </dgm:pt>
    <dgm:pt modelId="{B027C59C-785F-4D71-98AB-F56FEE906795}" type="parTrans" cxnId="{FD98EBE4-AD47-4C14-BE41-C4DB821F97F4}">
      <dgm:prSet/>
      <dgm:spPr/>
      <dgm:t>
        <a:bodyPr/>
        <a:lstStyle/>
        <a:p>
          <a:endParaRPr lang="en-US"/>
        </a:p>
      </dgm:t>
    </dgm:pt>
    <dgm:pt modelId="{83FDE3B5-6A84-422D-B67B-D64A3BC34475}" type="sibTrans" cxnId="{FD98EBE4-AD47-4C14-BE41-C4DB821F97F4}">
      <dgm:prSet/>
      <dgm:spPr/>
      <dgm:t>
        <a:bodyPr/>
        <a:lstStyle/>
        <a:p>
          <a:endParaRPr lang="en-US"/>
        </a:p>
      </dgm:t>
    </dgm:pt>
    <dgm:pt modelId="{EBAC33E7-1470-4BE7-88D3-2DC3AC3B4CA2}">
      <dgm:prSet/>
      <dgm:spPr/>
      <dgm:t>
        <a:bodyPr/>
        <a:lstStyle/>
        <a:p>
          <a:r>
            <a:rPr lang="en-US"/>
            <a:t>Economic Impact</a:t>
          </a:r>
        </a:p>
      </dgm:t>
    </dgm:pt>
    <dgm:pt modelId="{E844F2CF-E2A0-4639-9459-082E65F815C8}" type="parTrans" cxnId="{50B970C3-7BD8-4532-87A6-69D4BDBB6A1F}">
      <dgm:prSet/>
      <dgm:spPr/>
      <dgm:t>
        <a:bodyPr/>
        <a:lstStyle/>
        <a:p>
          <a:endParaRPr lang="en-US"/>
        </a:p>
      </dgm:t>
    </dgm:pt>
    <dgm:pt modelId="{E4EBD476-8215-4567-882F-DD7E8B349B34}" type="sibTrans" cxnId="{50B970C3-7BD8-4532-87A6-69D4BDBB6A1F}">
      <dgm:prSet/>
      <dgm:spPr/>
      <dgm:t>
        <a:bodyPr/>
        <a:lstStyle/>
        <a:p>
          <a:endParaRPr lang="en-US"/>
        </a:p>
      </dgm:t>
    </dgm:pt>
    <dgm:pt modelId="{C36B7FB0-CCA6-449E-AA5A-812B613B3713}">
      <dgm:prSet/>
      <dgm:spPr/>
      <dgm:t>
        <a:bodyPr/>
        <a:lstStyle/>
        <a:p>
          <a:r>
            <a:rPr lang="en-US"/>
            <a:t>Generated billions of dollars in revenue. </a:t>
          </a:r>
        </a:p>
      </dgm:t>
    </dgm:pt>
    <dgm:pt modelId="{2BB69FFF-3817-42C8-88FD-BC6DAB386DE8}" type="parTrans" cxnId="{33679D24-D803-469C-AD74-669C4639E9F4}">
      <dgm:prSet/>
      <dgm:spPr/>
      <dgm:t>
        <a:bodyPr/>
        <a:lstStyle/>
        <a:p>
          <a:endParaRPr lang="en-US"/>
        </a:p>
      </dgm:t>
    </dgm:pt>
    <dgm:pt modelId="{B994D047-305B-4BFB-8EAA-F5717A003238}" type="sibTrans" cxnId="{33679D24-D803-469C-AD74-669C4639E9F4}">
      <dgm:prSet/>
      <dgm:spPr/>
      <dgm:t>
        <a:bodyPr/>
        <a:lstStyle/>
        <a:p>
          <a:endParaRPr lang="en-US"/>
        </a:p>
      </dgm:t>
    </dgm:pt>
    <dgm:pt modelId="{CBE7C758-173C-489E-926B-A8D6E1EE1A95}">
      <dgm:prSet/>
      <dgm:spPr/>
      <dgm:t>
        <a:bodyPr/>
        <a:lstStyle/>
        <a:p>
          <a:r>
            <a:rPr lang="en-US"/>
            <a:t>Expanded biotechnology research globally. </a:t>
          </a:r>
        </a:p>
      </dgm:t>
    </dgm:pt>
    <dgm:pt modelId="{337779B9-B061-4817-9D2B-E675E1B74B96}" type="parTrans" cxnId="{11E0B5BA-1BA2-4363-8F07-139143B5862E}">
      <dgm:prSet/>
      <dgm:spPr/>
      <dgm:t>
        <a:bodyPr/>
        <a:lstStyle/>
        <a:p>
          <a:endParaRPr lang="en-US"/>
        </a:p>
      </dgm:t>
    </dgm:pt>
    <dgm:pt modelId="{10F4224C-60D4-4102-BC0E-CDA5FA5A5966}" type="sibTrans" cxnId="{11E0B5BA-1BA2-4363-8F07-139143B5862E}">
      <dgm:prSet/>
      <dgm:spPr/>
      <dgm:t>
        <a:bodyPr/>
        <a:lstStyle/>
        <a:p>
          <a:endParaRPr lang="en-US"/>
        </a:p>
      </dgm:t>
    </dgm:pt>
    <dgm:pt modelId="{C5AD0077-D32B-4186-9D49-83A53697CB63}">
      <dgm:prSet/>
      <dgm:spPr/>
      <dgm:t>
        <a:bodyPr/>
        <a:lstStyle/>
        <a:p>
          <a:r>
            <a:rPr lang="en-US"/>
            <a:t>Created new opportunities for biotechnology startups.</a:t>
          </a:r>
        </a:p>
      </dgm:t>
    </dgm:pt>
    <dgm:pt modelId="{3BCA6336-3771-494C-BEBA-3C7E2CD9ECF0}" type="parTrans" cxnId="{4AD4FB74-42B7-4C90-950C-E12EFC7EE7D1}">
      <dgm:prSet/>
      <dgm:spPr/>
      <dgm:t>
        <a:bodyPr/>
        <a:lstStyle/>
        <a:p>
          <a:endParaRPr lang="en-US"/>
        </a:p>
      </dgm:t>
    </dgm:pt>
    <dgm:pt modelId="{76E3CB8D-96A9-4FE4-804B-B00E5B269621}" type="sibTrans" cxnId="{4AD4FB74-42B7-4C90-950C-E12EFC7EE7D1}">
      <dgm:prSet/>
      <dgm:spPr/>
      <dgm:t>
        <a:bodyPr/>
        <a:lstStyle/>
        <a:p>
          <a:endParaRPr lang="en-US"/>
        </a:p>
      </dgm:t>
    </dgm:pt>
    <dgm:pt modelId="{0B1EFA08-9809-4CC6-A40F-0D1ACD346859}" type="pres">
      <dgm:prSet presAssocID="{4DFBE7A6-7686-4C98-8156-FB51F8546D26}" presName="Name0" presStyleCnt="0">
        <dgm:presLayoutVars>
          <dgm:dir/>
          <dgm:animLvl val="lvl"/>
          <dgm:resizeHandles val="exact"/>
        </dgm:presLayoutVars>
      </dgm:prSet>
      <dgm:spPr/>
    </dgm:pt>
    <dgm:pt modelId="{BA1B8806-0C37-4A7A-9D03-59DEFDEA54EF}" type="pres">
      <dgm:prSet presAssocID="{CC0DAC46-A48D-46C6-B13A-03E5260F717E}" presName="linNode" presStyleCnt="0"/>
      <dgm:spPr/>
    </dgm:pt>
    <dgm:pt modelId="{7A210085-123E-47D3-836C-AFB9F9D3BC2B}" type="pres">
      <dgm:prSet presAssocID="{CC0DAC46-A48D-46C6-B13A-03E5260F717E}" presName="parentText" presStyleLbl="node1" presStyleIdx="0" presStyleCnt="8">
        <dgm:presLayoutVars>
          <dgm:chMax val="1"/>
          <dgm:bulletEnabled val="1"/>
        </dgm:presLayoutVars>
      </dgm:prSet>
      <dgm:spPr/>
    </dgm:pt>
    <dgm:pt modelId="{676091EC-17B5-4014-BD31-5950CE6D130D}" type="pres">
      <dgm:prSet presAssocID="{7738A49B-6565-4E5D-B7C5-F1E5EA419BDF}" presName="sp" presStyleCnt="0"/>
      <dgm:spPr/>
    </dgm:pt>
    <dgm:pt modelId="{08C20E20-1CB0-4A1C-990A-23E861B92979}" type="pres">
      <dgm:prSet presAssocID="{1D9077F8-6FD8-4BCC-9A7A-FB04A37B2B02}" presName="linNode" presStyleCnt="0"/>
      <dgm:spPr/>
    </dgm:pt>
    <dgm:pt modelId="{FB985FA5-2E97-4629-8EB0-5A13A31F6FE8}" type="pres">
      <dgm:prSet presAssocID="{1D9077F8-6FD8-4BCC-9A7A-FB04A37B2B02}" presName="parentText" presStyleLbl="node1" presStyleIdx="1" presStyleCnt="8">
        <dgm:presLayoutVars>
          <dgm:chMax val="1"/>
          <dgm:bulletEnabled val="1"/>
        </dgm:presLayoutVars>
      </dgm:prSet>
      <dgm:spPr/>
    </dgm:pt>
    <dgm:pt modelId="{D60D4750-1367-4FB8-B301-BED58087DDC5}" type="pres">
      <dgm:prSet presAssocID="{59912A25-B942-4B9B-9668-6066287972F3}" presName="sp" presStyleCnt="0"/>
      <dgm:spPr/>
    </dgm:pt>
    <dgm:pt modelId="{D830073A-7A90-47E8-A93A-0F91BFB5AD56}" type="pres">
      <dgm:prSet presAssocID="{AB5E3819-6E70-49C1-89CB-11FBD510A7C9}" presName="linNode" presStyleCnt="0"/>
      <dgm:spPr/>
    </dgm:pt>
    <dgm:pt modelId="{132B51EC-52AA-4BE2-A8CA-0473A4A4C8BB}" type="pres">
      <dgm:prSet presAssocID="{AB5E3819-6E70-49C1-89CB-11FBD510A7C9}" presName="parentText" presStyleLbl="node1" presStyleIdx="2" presStyleCnt="8">
        <dgm:presLayoutVars>
          <dgm:chMax val="1"/>
          <dgm:bulletEnabled val="1"/>
        </dgm:presLayoutVars>
      </dgm:prSet>
      <dgm:spPr/>
    </dgm:pt>
    <dgm:pt modelId="{117BDE6C-48EB-486D-8992-5413F3230B54}" type="pres">
      <dgm:prSet presAssocID="{77E717C4-5237-4F95-A364-E979E97DD3FB}" presName="sp" presStyleCnt="0"/>
      <dgm:spPr/>
    </dgm:pt>
    <dgm:pt modelId="{9BA599F9-3762-4EBC-AA4E-632D0AD8F1EE}" type="pres">
      <dgm:prSet presAssocID="{2FDB2594-1319-4FA8-932E-352779CAB414}" presName="linNode" presStyleCnt="0"/>
      <dgm:spPr/>
    </dgm:pt>
    <dgm:pt modelId="{1CADC5A5-DC0E-4729-8E7C-98A3860D6D6B}" type="pres">
      <dgm:prSet presAssocID="{2FDB2594-1319-4FA8-932E-352779CAB414}" presName="parentText" presStyleLbl="node1" presStyleIdx="3" presStyleCnt="8">
        <dgm:presLayoutVars>
          <dgm:chMax val="1"/>
          <dgm:bulletEnabled val="1"/>
        </dgm:presLayoutVars>
      </dgm:prSet>
      <dgm:spPr/>
    </dgm:pt>
    <dgm:pt modelId="{78A20AF4-310D-47EB-BA43-EF27EFAD30D2}" type="pres">
      <dgm:prSet presAssocID="{83FDE3B5-6A84-422D-B67B-D64A3BC34475}" presName="sp" presStyleCnt="0"/>
      <dgm:spPr/>
    </dgm:pt>
    <dgm:pt modelId="{011DC847-28A5-4F34-93CB-EE34BF75CE1E}" type="pres">
      <dgm:prSet presAssocID="{EBAC33E7-1470-4BE7-88D3-2DC3AC3B4CA2}" presName="linNode" presStyleCnt="0"/>
      <dgm:spPr/>
    </dgm:pt>
    <dgm:pt modelId="{B4A9D2AD-6FA4-4CD7-B3E8-2BA4FC78C7B2}" type="pres">
      <dgm:prSet presAssocID="{EBAC33E7-1470-4BE7-88D3-2DC3AC3B4CA2}" presName="parentText" presStyleLbl="node1" presStyleIdx="4" presStyleCnt="8">
        <dgm:presLayoutVars>
          <dgm:chMax val="1"/>
          <dgm:bulletEnabled val="1"/>
        </dgm:presLayoutVars>
      </dgm:prSet>
      <dgm:spPr/>
    </dgm:pt>
    <dgm:pt modelId="{DEB9FEB9-463A-4C05-AEBC-DDD165D81BB2}" type="pres">
      <dgm:prSet presAssocID="{E4EBD476-8215-4567-882F-DD7E8B349B34}" presName="sp" presStyleCnt="0"/>
      <dgm:spPr/>
    </dgm:pt>
    <dgm:pt modelId="{BDE1FF7E-C4B9-4012-BD2F-89F94D205141}" type="pres">
      <dgm:prSet presAssocID="{C36B7FB0-CCA6-449E-AA5A-812B613B3713}" presName="linNode" presStyleCnt="0"/>
      <dgm:spPr/>
    </dgm:pt>
    <dgm:pt modelId="{6C3D39B1-3C74-4292-AB4E-DA858C354B46}" type="pres">
      <dgm:prSet presAssocID="{C36B7FB0-CCA6-449E-AA5A-812B613B3713}" presName="parentText" presStyleLbl="node1" presStyleIdx="5" presStyleCnt="8">
        <dgm:presLayoutVars>
          <dgm:chMax val="1"/>
          <dgm:bulletEnabled val="1"/>
        </dgm:presLayoutVars>
      </dgm:prSet>
      <dgm:spPr/>
    </dgm:pt>
    <dgm:pt modelId="{B8B3C681-5B47-4681-83DA-FD762903AF05}" type="pres">
      <dgm:prSet presAssocID="{B994D047-305B-4BFB-8EAA-F5717A003238}" presName="sp" presStyleCnt="0"/>
      <dgm:spPr/>
    </dgm:pt>
    <dgm:pt modelId="{C8176EF6-439A-45FB-A78A-1EFD17AB3F18}" type="pres">
      <dgm:prSet presAssocID="{CBE7C758-173C-489E-926B-A8D6E1EE1A95}" presName="linNode" presStyleCnt="0"/>
      <dgm:spPr/>
    </dgm:pt>
    <dgm:pt modelId="{31374E34-234B-4D6F-BAF5-989AA6FF64A8}" type="pres">
      <dgm:prSet presAssocID="{CBE7C758-173C-489E-926B-A8D6E1EE1A95}" presName="parentText" presStyleLbl="node1" presStyleIdx="6" presStyleCnt="8">
        <dgm:presLayoutVars>
          <dgm:chMax val="1"/>
          <dgm:bulletEnabled val="1"/>
        </dgm:presLayoutVars>
      </dgm:prSet>
      <dgm:spPr/>
    </dgm:pt>
    <dgm:pt modelId="{5A7FE24F-9F2E-4613-9E4C-B6CC2F10216E}" type="pres">
      <dgm:prSet presAssocID="{10F4224C-60D4-4102-BC0E-CDA5FA5A5966}" presName="sp" presStyleCnt="0"/>
      <dgm:spPr/>
    </dgm:pt>
    <dgm:pt modelId="{9FE0D73E-E1D2-4111-931D-E84B2D93E846}" type="pres">
      <dgm:prSet presAssocID="{C5AD0077-D32B-4186-9D49-83A53697CB63}" presName="linNode" presStyleCnt="0"/>
      <dgm:spPr/>
    </dgm:pt>
    <dgm:pt modelId="{FFABAC6A-0526-47E1-BC6C-218BBE80CA65}" type="pres">
      <dgm:prSet presAssocID="{C5AD0077-D32B-4186-9D49-83A53697CB63}" presName="parentText" presStyleLbl="node1" presStyleIdx="7" presStyleCnt="8">
        <dgm:presLayoutVars>
          <dgm:chMax val="1"/>
          <dgm:bulletEnabled val="1"/>
        </dgm:presLayoutVars>
      </dgm:prSet>
      <dgm:spPr/>
    </dgm:pt>
  </dgm:ptLst>
  <dgm:cxnLst>
    <dgm:cxn modelId="{2C488203-E9C3-4172-8617-92DA5EFAB3BC}" type="presOf" srcId="{C36B7FB0-CCA6-449E-AA5A-812B613B3713}" destId="{6C3D39B1-3C74-4292-AB4E-DA858C354B46}" srcOrd="0" destOrd="0" presId="urn:microsoft.com/office/officeart/2005/8/layout/vList5"/>
    <dgm:cxn modelId="{3216B806-140D-4BCC-AFB2-4522B8EE2B23}" type="presOf" srcId="{CC0DAC46-A48D-46C6-B13A-03E5260F717E}" destId="{7A210085-123E-47D3-836C-AFB9F9D3BC2B}" srcOrd="0" destOrd="0" presId="urn:microsoft.com/office/officeart/2005/8/layout/vList5"/>
    <dgm:cxn modelId="{38D57219-E7EA-4302-ACA5-732F04753A06}" type="presOf" srcId="{2FDB2594-1319-4FA8-932E-352779CAB414}" destId="{1CADC5A5-DC0E-4729-8E7C-98A3860D6D6B}" srcOrd="0" destOrd="0" presId="urn:microsoft.com/office/officeart/2005/8/layout/vList5"/>
    <dgm:cxn modelId="{33679D24-D803-469C-AD74-669C4639E9F4}" srcId="{4DFBE7A6-7686-4C98-8156-FB51F8546D26}" destId="{C36B7FB0-CCA6-449E-AA5A-812B613B3713}" srcOrd="5" destOrd="0" parTransId="{2BB69FFF-3817-42C8-88FD-BC6DAB386DE8}" sibTransId="{B994D047-305B-4BFB-8EAA-F5717A003238}"/>
    <dgm:cxn modelId="{5F486D60-CEF4-4D9F-98F7-952AF4863C3C}" type="presOf" srcId="{AB5E3819-6E70-49C1-89CB-11FBD510A7C9}" destId="{132B51EC-52AA-4BE2-A8CA-0473A4A4C8BB}" srcOrd="0" destOrd="0" presId="urn:microsoft.com/office/officeart/2005/8/layout/vList5"/>
    <dgm:cxn modelId="{CA338248-B383-48C2-B432-18B82162F961}" srcId="{4DFBE7A6-7686-4C98-8156-FB51F8546D26}" destId="{CC0DAC46-A48D-46C6-B13A-03E5260F717E}" srcOrd="0" destOrd="0" parTransId="{3E136DA7-8264-41B9-A171-9037265C8242}" sibTransId="{7738A49B-6565-4E5D-B7C5-F1E5EA419BDF}"/>
    <dgm:cxn modelId="{B451506E-EC57-4CF4-8677-AF2878B0766B}" type="presOf" srcId="{EBAC33E7-1470-4BE7-88D3-2DC3AC3B4CA2}" destId="{B4A9D2AD-6FA4-4CD7-B3E8-2BA4FC78C7B2}" srcOrd="0" destOrd="0" presId="urn:microsoft.com/office/officeart/2005/8/layout/vList5"/>
    <dgm:cxn modelId="{00751C52-D4A3-4881-93D1-ED64A9C387D6}" srcId="{4DFBE7A6-7686-4C98-8156-FB51F8546D26}" destId="{AB5E3819-6E70-49C1-89CB-11FBD510A7C9}" srcOrd="2" destOrd="0" parTransId="{2FE288A9-5AEA-4C41-9194-5B300A10CB25}" sibTransId="{77E717C4-5237-4F95-A364-E979E97DD3FB}"/>
    <dgm:cxn modelId="{4AD4FB74-42B7-4C90-950C-E12EFC7EE7D1}" srcId="{4DFBE7A6-7686-4C98-8156-FB51F8546D26}" destId="{C5AD0077-D32B-4186-9D49-83A53697CB63}" srcOrd="7" destOrd="0" parTransId="{3BCA6336-3771-494C-BEBA-3C7E2CD9ECF0}" sibTransId="{76E3CB8D-96A9-4FE4-804B-B00E5B269621}"/>
    <dgm:cxn modelId="{A0FCE05A-7F6D-4604-851C-C297A7AB6125}" type="presOf" srcId="{4DFBE7A6-7686-4C98-8156-FB51F8546D26}" destId="{0B1EFA08-9809-4CC6-A40F-0D1ACD346859}" srcOrd="0" destOrd="0" presId="urn:microsoft.com/office/officeart/2005/8/layout/vList5"/>
    <dgm:cxn modelId="{B0F0587C-BF2E-4124-B5D4-9B792844528D}" type="presOf" srcId="{CBE7C758-173C-489E-926B-A8D6E1EE1A95}" destId="{31374E34-234B-4D6F-BAF5-989AA6FF64A8}" srcOrd="0" destOrd="0" presId="urn:microsoft.com/office/officeart/2005/8/layout/vList5"/>
    <dgm:cxn modelId="{11E21685-87F6-4121-9B07-E83176B5DA8C}" type="presOf" srcId="{1D9077F8-6FD8-4BCC-9A7A-FB04A37B2B02}" destId="{FB985FA5-2E97-4629-8EB0-5A13A31F6FE8}" srcOrd="0" destOrd="0" presId="urn:microsoft.com/office/officeart/2005/8/layout/vList5"/>
    <dgm:cxn modelId="{7746D8A7-8D40-4E5C-86E3-01F82E95BAAF}" type="presOf" srcId="{C5AD0077-D32B-4186-9D49-83A53697CB63}" destId="{FFABAC6A-0526-47E1-BC6C-218BBE80CA65}" srcOrd="0" destOrd="0" presId="urn:microsoft.com/office/officeart/2005/8/layout/vList5"/>
    <dgm:cxn modelId="{11E0B5BA-1BA2-4363-8F07-139143B5862E}" srcId="{4DFBE7A6-7686-4C98-8156-FB51F8546D26}" destId="{CBE7C758-173C-489E-926B-A8D6E1EE1A95}" srcOrd="6" destOrd="0" parTransId="{337779B9-B061-4817-9D2B-E675E1B74B96}" sibTransId="{10F4224C-60D4-4102-BC0E-CDA5FA5A5966}"/>
    <dgm:cxn modelId="{EDA68FBB-2346-420D-8B4C-E55D92178CCE}" srcId="{4DFBE7A6-7686-4C98-8156-FB51F8546D26}" destId="{1D9077F8-6FD8-4BCC-9A7A-FB04A37B2B02}" srcOrd="1" destOrd="0" parTransId="{0E639576-9CF3-4E08-A71C-9FB0EBC6D540}" sibTransId="{59912A25-B942-4B9B-9668-6066287972F3}"/>
    <dgm:cxn modelId="{50B970C3-7BD8-4532-87A6-69D4BDBB6A1F}" srcId="{4DFBE7A6-7686-4C98-8156-FB51F8546D26}" destId="{EBAC33E7-1470-4BE7-88D3-2DC3AC3B4CA2}" srcOrd="4" destOrd="0" parTransId="{E844F2CF-E2A0-4639-9459-082E65F815C8}" sibTransId="{E4EBD476-8215-4567-882F-DD7E8B349B34}"/>
    <dgm:cxn modelId="{FD98EBE4-AD47-4C14-BE41-C4DB821F97F4}" srcId="{4DFBE7A6-7686-4C98-8156-FB51F8546D26}" destId="{2FDB2594-1319-4FA8-932E-352779CAB414}" srcOrd="3" destOrd="0" parTransId="{B027C59C-785F-4D71-98AB-F56FEE906795}" sibTransId="{83FDE3B5-6A84-422D-B67B-D64A3BC34475}"/>
    <dgm:cxn modelId="{5467C040-C1DF-43D2-8109-36FBAFE50952}" type="presParOf" srcId="{0B1EFA08-9809-4CC6-A40F-0D1ACD346859}" destId="{BA1B8806-0C37-4A7A-9D03-59DEFDEA54EF}" srcOrd="0" destOrd="0" presId="urn:microsoft.com/office/officeart/2005/8/layout/vList5"/>
    <dgm:cxn modelId="{9ACA4C61-DB06-46AB-8BB5-1F49D321FB87}" type="presParOf" srcId="{BA1B8806-0C37-4A7A-9D03-59DEFDEA54EF}" destId="{7A210085-123E-47D3-836C-AFB9F9D3BC2B}" srcOrd="0" destOrd="0" presId="urn:microsoft.com/office/officeart/2005/8/layout/vList5"/>
    <dgm:cxn modelId="{4D92A8D9-969D-450A-B16F-E6B49F2AB917}" type="presParOf" srcId="{0B1EFA08-9809-4CC6-A40F-0D1ACD346859}" destId="{676091EC-17B5-4014-BD31-5950CE6D130D}" srcOrd="1" destOrd="0" presId="urn:microsoft.com/office/officeart/2005/8/layout/vList5"/>
    <dgm:cxn modelId="{F3CF83F2-6D37-48FB-85B3-AD08B76B591B}" type="presParOf" srcId="{0B1EFA08-9809-4CC6-A40F-0D1ACD346859}" destId="{08C20E20-1CB0-4A1C-990A-23E861B92979}" srcOrd="2" destOrd="0" presId="urn:microsoft.com/office/officeart/2005/8/layout/vList5"/>
    <dgm:cxn modelId="{7885EF5D-AE20-46B9-A6B9-ECF2C1F6E0B1}" type="presParOf" srcId="{08C20E20-1CB0-4A1C-990A-23E861B92979}" destId="{FB985FA5-2E97-4629-8EB0-5A13A31F6FE8}" srcOrd="0" destOrd="0" presId="urn:microsoft.com/office/officeart/2005/8/layout/vList5"/>
    <dgm:cxn modelId="{BACBED12-9316-4B26-BE99-571D4A0574F5}" type="presParOf" srcId="{0B1EFA08-9809-4CC6-A40F-0D1ACD346859}" destId="{D60D4750-1367-4FB8-B301-BED58087DDC5}" srcOrd="3" destOrd="0" presId="urn:microsoft.com/office/officeart/2005/8/layout/vList5"/>
    <dgm:cxn modelId="{4142B3AB-7ECE-4B00-AF65-C59BF1CA5343}" type="presParOf" srcId="{0B1EFA08-9809-4CC6-A40F-0D1ACD346859}" destId="{D830073A-7A90-47E8-A93A-0F91BFB5AD56}" srcOrd="4" destOrd="0" presId="urn:microsoft.com/office/officeart/2005/8/layout/vList5"/>
    <dgm:cxn modelId="{2FD3ED22-CC38-4332-9DFA-192DFF20E713}" type="presParOf" srcId="{D830073A-7A90-47E8-A93A-0F91BFB5AD56}" destId="{132B51EC-52AA-4BE2-A8CA-0473A4A4C8BB}" srcOrd="0" destOrd="0" presId="urn:microsoft.com/office/officeart/2005/8/layout/vList5"/>
    <dgm:cxn modelId="{B6980625-E091-4ED7-8EDB-31CC472453C3}" type="presParOf" srcId="{0B1EFA08-9809-4CC6-A40F-0D1ACD346859}" destId="{117BDE6C-48EB-486D-8992-5413F3230B54}" srcOrd="5" destOrd="0" presId="urn:microsoft.com/office/officeart/2005/8/layout/vList5"/>
    <dgm:cxn modelId="{A789A49F-5681-450A-8016-81C6C63FDC50}" type="presParOf" srcId="{0B1EFA08-9809-4CC6-A40F-0D1ACD346859}" destId="{9BA599F9-3762-4EBC-AA4E-632D0AD8F1EE}" srcOrd="6" destOrd="0" presId="urn:microsoft.com/office/officeart/2005/8/layout/vList5"/>
    <dgm:cxn modelId="{0C6062C4-6F3D-4627-A876-D0601273D6F5}" type="presParOf" srcId="{9BA599F9-3762-4EBC-AA4E-632D0AD8F1EE}" destId="{1CADC5A5-DC0E-4729-8E7C-98A3860D6D6B}" srcOrd="0" destOrd="0" presId="urn:microsoft.com/office/officeart/2005/8/layout/vList5"/>
    <dgm:cxn modelId="{46A60773-693B-4983-A0DB-FCC56194D660}" type="presParOf" srcId="{0B1EFA08-9809-4CC6-A40F-0D1ACD346859}" destId="{78A20AF4-310D-47EB-BA43-EF27EFAD30D2}" srcOrd="7" destOrd="0" presId="urn:microsoft.com/office/officeart/2005/8/layout/vList5"/>
    <dgm:cxn modelId="{069954E4-4CB2-41B4-B128-0FF9C7F5D563}" type="presParOf" srcId="{0B1EFA08-9809-4CC6-A40F-0D1ACD346859}" destId="{011DC847-28A5-4F34-93CB-EE34BF75CE1E}" srcOrd="8" destOrd="0" presId="urn:microsoft.com/office/officeart/2005/8/layout/vList5"/>
    <dgm:cxn modelId="{20243798-0DCC-46E0-A36B-AD9ECDD5338E}" type="presParOf" srcId="{011DC847-28A5-4F34-93CB-EE34BF75CE1E}" destId="{B4A9D2AD-6FA4-4CD7-B3E8-2BA4FC78C7B2}" srcOrd="0" destOrd="0" presId="urn:microsoft.com/office/officeart/2005/8/layout/vList5"/>
    <dgm:cxn modelId="{7319E69C-4526-49A1-AA97-4E3459847A53}" type="presParOf" srcId="{0B1EFA08-9809-4CC6-A40F-0D1ACD346859}" destId="{DEB9FEB9-463A-4C05-AEBC-DDD165D81BB2}" srcOrd="9" destOrd="0" presId="urn:microsoft.com/office/officeart/2005/8/layout/vList5"/>
    <dgm:cxn modelId="{C0357BA0-2ABA-4D4F-AC45-C51B215403CE}" type="presParOf" srcId="{0B1EFA08-9809-4CC6-A40F-0D1ACD346859}" destId="{BDE1FF7E-C4B9-4012-BD2F-89F94D205141}" srcOrd="10" destOrd="0" presId="urn:microsoft.com/office/officeart/2005/8/layout/vList5"/>
    <dgm:cxn modelId="{471E64EB-AE3D-48F4-A744-0D68A4CA0BC2}" type="presParOf" srcId="{BDE1FF7E-C4B9-4012-BD2F-89F94D205141}" destId="{6C3D39B1-3C74-4292-AB4E-DA858C354B46}" srcOrd="0" destOrd="0" presId="urn:microsoft.com/office/officeart/2005/8/layout/vList5"/>
    <dgm:cxn modelId="{D7235FE7-E4C8-49CC-8DB5-557748A7916E}" type="presParOf" srcId="{0B1EFA08-9809-4CC6-A40F-0D1ACD346859}" destId="{B8B3C681-5B47-4681-83DA-FD762903AF05}" srcOrd="11" destOrd="0" presId="urn:microsoft.com/office/officeart/2005/8/layout/vList5"/>
    <dgm:cxn modelId="{CB2FCB87-CF84-4C45-B80B-3308AE785A9E}" type="presParOf" srcId="{0B1EFA08-9809-4CC6-A40F-0D1ACD346859}" destId="{C8176EF6-439A-45FB-A78A-1EFD17AB3F18}" srcOrd="12" destOrd="0" presId="urn:microsoft.com/office/officeart/2005/8/layout/vList5"/>
    <dgm:cxn modelId="{4821AF7E-4175-4C2A-A1C1-F3D8244907FD}" type="presParOf" srcId="{C8176EF6-439A-45FB-A78A-1EFD17AB3F18}" destId="{31374E34-234B-4D6F-BAF5-989AA6FF64A8}" srcOrd="0" destOrd="0" presId="urn:microsoft.com/office/officeart/2005/8/layout/vList5"/>
    <dgm:cxn modelId="{C402FECD-48B4-44AA-86BE-95E5EC04E6FB}" type="presParOf" srcId="{0B1EFA08-9809-4CC6-A40F-0D1ACD346859}" destId="{5A7FE24F-9F2E-4613-9E4C-B6CC2F10216E}" srcOrd="13" destOrd="0" presId="urn:microsoft.com/office/officeart/2005/8/layout/vList5"/>
    <dgm:cxn modelId="{9127F209-9240-4178-B401-9AB4B456C279}" type="presParOf" srcId="{0B1EFA08-9809-4CC6-A40F-0D1ACD346859}" destId="{9FE0D73E-E1D2-4111-931D-E84B2D93E846}" srcOrd="14" destOrd="0" presId="urn:microsoft.com/office/officeart/2005/8/layout/vList5"/>
    <dgm:cxn modelId="{CD387F17-4711-40FB-95AA-B65AD3D001CF}" type="presParOf" srcId="{9FE0D73E-E1D2-4111-931D-E84B2D93E846}" destId="{FFABAC6A-0526-47E1-BC6C-218BBE80CA65}"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7CEC519-CD6A-4740-8D2F-382021130634}"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8E39D32D-56C5-4A99-A746-95995D1FEB33}">
      <dgm:prSet/>
      <dgm:spPr/>
      <dgm:t>
        <a:bodyPr/>
        <a:lstStyle/>
        <a:p>
          <a:pPr>
            <a:lnSpc>
              <a:spcPct val="100000"/>
            </a:lnSpc>
          </a:pPr>
          <a:r>
            <a:rPr lang="en-US"/>
            <a:t>Ongoing Research</a:t>
          </a:r>
        </a:p>
      </dgm:t>
    </dgm:pt>
    <dgm:pt modelId="{53C36065-19F2-4D9C-9ED7-7EC8AE5CD6B7}" type="parTrans" cxnId="{80E026E9-A0DC-4E18-8530-217E8C49A9A2}">
      <dgm:prSet/>
      <dgm:spPr/>
      <dgm:t>
        <a:bodyPr/>
        <a:lstStyle/>
        <a:p>
          <a:endParaRPr lang="en-US"/>
        </a:p>
      </dgm:t>
    </dgm:pt>
    <dgm:pt modelId="{9BF6C52E-28B3-4C40-BF9F-CD7A473855F2}" type="sibTrans" cxnId="{80E026E9-A0DC-4E18-8530-217E8C49A9A2}">
      <dgm:prSet/>
      <dgm:spPr/>
      <dgm:t>
        <a:bodyPr/>
        <a:lstStyle/>
        <a:p>
          <a:pPr>
            <a:lnSpc>
              <a:spcPct val="100000"/>
            </a:lnSpc>
          </a:pPr>
          <a:endParaRPr lang="en-US"/>
        </a:p>
      </dgm:t>
    </dgm:pt>
    <dgm:pt modelId="{36DB1FE8-BB7D-4D95-BE2B-691F85B6D6E7}">
      <dgm:prSet/>
      <dgm:spPr/>
      <dgm:t>
        <a:bodyPr/>
        <a:lstStyle/>
        <a:p>
          <a:pPr>
            <a:lnSpc>
              <a:spcPct val="100000"/>
            </a:lnSpc>
          </a:pPr>
          <a:r>
            <a:rPr lang="en-US"/>
            <a:t>Personalized cancer vaccines. </a:t>
          </a:r>
        </a:p>
      </dgm:t>
    </dgm:pt>
    <dgm:pt modelId="{B3F49195-C7C8-4D56-9DF7-D27369125EAF}" type="parTrans" cxnId="{EAA63B67-53C0-471B-9865-FA2B81006AD3}">
      <dgm:prSet/>
      <dgm:spPr/>
      <dgm:t>
        <a:bodyPr/>
        <a:lstStyle/>
        <a:p>
          <a:endParaRPr lang="en-US"/>
        </a:p>
      </dgm:t>
    </dgm:pt>
    <dgm:pt modelId="{155FE26E-E227-40AB-A3E9-EFA4F0144C4D}" type="sibTrans" cxnId="{EAA63B67-53C0-471B-9865-FA2B81006AD3}">
      <dgm:prSet/>
      <dgm:spPr/>
      <dgm:t>
        <a:bodyPr/>
        <a:lstStyle/>
        <a:p>
          <a:pPr>
            <a:lnSpc>
              <a:spcPct val="100000"/>
            </a:lnSpc>
          </a:pPr>
          <a:endParaRPr lang="en-US"/>
        </a:p>
      </dgm:t>
    </dgm:pt>
    <dgm:pt modelId="{4DBDCD76-2749-47F9-9C38-787E666C1A18}">
      <dgm:prSet/>
      <dgm:spPr/>
      <dgm:t>
        <a:bodyPr/>
        <a:lstStyle/>
        <a:p>
          <a:pPr>
            <a:lnSpc>
              <a:spcPct val="100000"/>
            </a:lnSpc>
          </a:pPr>
          <a:r>
            <a:rPr lang="en-US"/>
            <a:t>Combination vaccines. </a:t>
          </a:r>
        </a:p>
      </dgm:t>
    </dgm:pt>
    <dgm:pt modelId="{153C81E6-DE59-460A-A094-3096AE9FAC43}" type="parTrans" cxnId="{ACDA004E-F955-40D9-981B-0B9CF3D41992}">
      <dgm:prSet/>
      <dgm:spPr/>
      <dgm:t>
        <a:bodyPr/>
        <a:lstStyle/>
        <a:p>
          <a:endParaRPr lang="en-US"/>
        </a:p>
      </dgm:t>
    </dgm:pt>
    <dgm:pt modelId="{DB676BEA-AA07-464E-A56A-C03BCB718D0D}" type="sibTrans" cxnId="{ACDA004E-F955-40D9-981B-0B9CF3D41992}">
      <dgm:prSet/>
      <dgm:spPr/>
      <dgm:t>
        <a:bodyPr/>
        <a:lstStyle/>
        <a:p>
          <a:pPr>
            <a:lnSpc>
              <a:spcPct val="100000"/>
            </a:lnSpc>
          </a:pPr>
          <a:endParaRPr lang="en-US"/>
        </a:p>
      </dgm:t>
    </dgm:pt>
    <dgm:pt modelId="{044626C4-7E95-4AC4-99C7-7448B5F4E68C}">
      <dgm:prSet/>
      <dgm:spPr/>
      <dgm:t>
        <a:bodyPr/>
        <a:lstStyle/>
        <a:p>
          <a:pPr>
            <a:lnSpc>
              <a:spcPct val="100000"/>
            </a:lnSpc>
          </a:pPr>
          <a:r>
            <a:rPr lang="en-US"/>
            <a:t>Rare disease treatments. </a:t>
          </a:r>
        </a:p>
      </dgm:t>
    </dgm:pt>
    <dgm:pt modelId="{C3B6C884-ECB8-40CC-BF5D-EFB82ABA299A}" type="parTrans" cxnId="{B4685B20-DF0E-4419-95EE-0A3046DADD40}">
      <dgm:prSet/>
      <dgm:spPr/>
      <dgm:t>
        <a:bodyPr/>
        <a:lstStyle/>
        <a:p>
          <a:endParaRPr lang="en-US"/>
        </a:p>
      </dgm:t>
    </dgm:pt>
    <dgm:pt modelId="{01AE42BA-0D59-4930-A8AC-A60330088BDC}" type="sibTrans" cxnId="{B4685B20-DF0E-4419-95EE-0A3046DADD40}">
      <dgm:prSet/>
      <dgm:spPr/>
      <dgm:t>
        <a:bodyPr/>
        <a:lstStyle/>
        <a:p>
          <a:pPr>
            <a:lnSpc>
              <a:spcPct val="100000"/>
            </a:lnSpc>
          </a:pPr>
          <a:endParaRPr lang="en-US"/>
        </a:p>
      </dgm:t>
    </dgm:pt>
    <dgm:pt modelId="{4E474E55-455F-4C57-ABAC-7584209A0AA6}">
      <dgm:prSet/>
      <dgm:spPr/>
      <dgm:t>
        <a:bodyPr/>
        <a:lstStyle/>
        <a:p>
          <a:pPr>
            <a:lnSpc>
              <a:spcPct val="100000"/>
            </a:lnSpc>
          </a:pPr>
          <a:r>
            <a:rPr lang="en-US"/>
            <a:t>Autoimmune disease therapies. </a:t>
          </a:r>
        </a:p>
      </dgm:t>
    </dgm:pt>
    <dgm:pt modelId="{D9E78809-1CC6-4D29-9DAC-ABBAE225C451}" type="parTrans" cxnId="{418FDAA3-BF6F-4FC6-912A-CE9D43C44175}">
      <dgm:prSet/>
      <dgm:spPr/>
      <dgm:t>
        <a:bodyPr/>
        <a:lstStyle/>
        <a:p>
          <a:endParaRPr lang="en-US"/>
        </a:p>
      </dgm:t>
    </dgm:pt>
    <dgm:pt modelId="{33721B23-7D5C-4ED0-B23C-296AC3D31AD2}" type="sibTrans" cxnId="{418FDAA3-BF6F-4FC6-912A-CE9D43C44175}">
      <dgm:prSet/>
      <dgm:spPr/>
      <dgm:t>
        <a:bodyPr/>
        <a:lstStyle/>
        <a:p>
          <a:pPr>
            <a:lnSpc>
              <a:spcPct val="100000"/>
            </a:lnSpc>
          </a:pPr>
          <a:endParaRPr lang="en-US"/>
        </a:p>
      </dgm:t>
    </dgm:pt>
    <dgm:pt modelId="{737B86CA-B29F-4B6E-A9A4-B2C1F118C619}">
      <dgm:prSet/>
      <dgm:spPr/>
      <dgm:t>
        <a:bodyPr/>
        <a:lstStyle/>
        <a:p>
          <a:pPr>
            <a:lnSpc>
              <a:spcPct val="100000"/>
            </a:lnSpc>
          </a:pPr>
          <a:r>
            <a:rPr lang="en-US"/>
            <a:t>Future Vision</a:t>
          </a:r>
        </a:p>
      </dgm:t>
    </dgm:pt>
    <dgm:pt modelId="{0B8C61F9-A42D-4E4C-A871-650CED9775FA}" type="parTrans" cxnId="{894609AF-D6C9-4FBF-A85B-EB8922113912}">
      <dgm:prSet/>
      <dgm:spPr/>
      <dgm:t>
        <a:bodyPr/>
        <a:lstStyle/>
        <a:p>
          <a:endParaRPr lang="en-US"/>
        </a:p>
      </dgm:t>
    </dgm:pt>
    <dgm:pt modelId="{85DEFF1F-E974-4DC6-9B66-13B3929C1881}" type="sibTrans" cxnId="{894609AF-D6C9-4FBF-A85B-EB8922113912}">
      <dgm:prSet/>
      <dgm:spPr/>
      <dgm:t>
        <a:bodyPr/>
        <a:lstStyle/>
        <a:p>
          <a:pPr>
            <a:lnSpc>
              <a:spcPct val="100000"/>
            </a:lnSpc>
          </a:pPr>
          <a:endParaRPr lang="en-US"/>
        </a:p>
      </dgm:t>
    </dgm:pt>
    <dgm:pt modelId="{C40D6517-FE3C-43FB-B705-33AA828FC5F7}">
      <dgm:prSet/>
      <dgm:spPr/>
      <dgm:t>
        <a:bodyPr/>
        <a:lstStyle/>
        <a:p>
          <a:pPr>
            <a:lnSpc>
              <a:spcPct val="100000"/>
            </a:lnSpc>
          </a:pPr>
          <a:r>
            <a:rPr lang="en-US"/>
            <a:t>Moderna aims to create a new generation of medicines based on programmable mRNA technology.</a:t>
          </a:r>
        </a:p>
      </dgm:t>
    </dgm:pt>
    <dgm:pt modelId="{5440EB04-86F5-4BA0-960D-C2743DD4B799}" type="parTrans" cxnId="{07DF0CD0-5D11-46B6-BD46-8FCE3A7F6CEA}">
      <dgm:prSet/>
      <dgm:spPr/>
      <dgm:t>
        <a:bodyPr/>
        <a:lstStyle/>
        <a:p>
          <a:endParaRPr lang="en-US"/>
        </a:p>
      </dgm:t>
    </dgm:pt>
    <dgm:pt modelId="{018451BD-7C69-4181-AB64-1968E1AECCB4}" type="sibTrans" cxnId="{07DF0CD0-5D11-46B6-BD46-8FCE3A7F6CEA}">
      <dgm:prSet/>
      <dgm:spPr/>
      <dgm:t>
        <a:bodyPr/>
        <a:lstStyle/>
        <a:p>
          <a:endParaRPr lang="en-US"/>
        </a:p>
      </dgm:t>
    </dgm:pt>
    <dgm:pt modelId="{F946037B-71E5-4296-B361-3B3F42865C5B}" type="pres">
      <dgm:prSet presAssocID="{87CEC519-CD6A-4740-8D2F-382021130634}" presName="root" presStyleCnt="0">
        <dgm:presLayoutVars>
          <dgm:dir/>
          <dgm:resizeHandles val="exact"/>
        </dgm:presLayoutVars>
      </dgm:prSet>
      <dgm:spPr/>
    </dgm:pt>
    <dgm:pt modelId="{9BB5DCBB-1499-46E2-B1D6-52F31FF79909}" type="pres">
      <dgm:prSet presAssocID="{87CEC519-CD6A-4740-8D2F-382021130634}" presName="container" presStyleCnt="0">
        <dgm:presLayoutVars>
          <dgm:dir/>
          <dgm:resizeHandles val="exact"/>
        </dgm:presLayoutVars>
      </dgm:prSet>
      <dgm:spPr/>
    </dgm:pt>
    <dgm:pt modelId="{1922CA41-C639-4185-AA0E-64D3BDA20A23}" type="pres">
      <dgm:prSet presAssocID="{8E39D32D-56C5-4A99-A746-95995D1FEB33}" presName="compNode" presStyleCnt="0"/>
      <dgm:spPr/>
    </dgm:pt>
    <dgm:pt modelId="{FCAADA51-718B-4304-B019-9D91D9F3DCBE}" type="pres">
      <dgm:prSet presAssocID="{8E39D32D-56C5-4A99-A746-95995D1FEB33}" presName="iconBgRect" presStyleLbl="bgShp" presStyleIdx="0" presStyleCnt="7"/>
      <dgm:spPr/>
    </dgm:pt>
    <dgm:pt modelId="{E9B9CD66-DDBD-4CDC-A9E8-53C40882E2C2}" type="pres">
      <dgm:prSet presAssocID="{8E39D32D-56C5-4A99-A746-95995D1FEB33}"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agnifying glass"/>
        </a:ext>
      </dgm:extLst>
    </dgm:pt>
    <dgm:pt modelId="{0AE6FC52-BC8E-44D2-9C9B-53D0B7815AA2}" type="pres">
      <dgm:prSet presAssocID="{8E39D32D-56C5-4A99-A746-95995D1FEB33}" presName="spaceRect" presStyleCnt="0"/>
      <dgm:spPr/>
    </dgm:pt>
    <dgm:pt modelId="{5CA99F6A-3B13-4A81-ABFC-7487555443DB}" type="pres">
      <dgm:prSet presAssocID="{8E39D32D-56C5-4A99-A746-95995D1FEB33}" presName="textRect" presStyleLbl="revTx" presStyleIdx="0" presStyleCnt="7">
        <dgm:presLayoutVars>
          <dgm:chMax val="1"/>
          <dgm:chPref val="1"/>
        </dgm:presLayoutVars>
      </dgm:prSet>
      <dgm:spPr/>
    </dgm:pt>
    <dgm:pt modelId="{2B4710A5-0A17-4981-8894-5EBFCD28C401}" type="pres">
      <dgm:prSet presAssocID="{9BF6C52E-28B3-4C40-BF9F-CD7A473855F2}" presName="sibTrans" presStyleLbl="sibTrans2D1" presStyleIdx="0" presStyleCnt="0"/>
      <dgm:spPr/>
    </dgm:pt>
    <dgm:pt modelId="{0B8FD7D5-D747-4E6E-B19F-A0AD513AFD78}" type="pres">
      <dgm:prSet presAssocID="{36DB1FE8-BB7D-4D95-BE2B-691F85B6D6E7}" presName="compNode" presStyleCnt="0"/>
      <dgm:spPr/>
    </dgm:pt>
    <dgm:pt modelId="{4B55966C-7955-4F00-9726-B8A0BA9204C1}" type="pres">
      <dgm:prSet presAssocID="{36DB1FE8-BB7D-4D95-BE2B-691F85B6D6E7}" presName="iconBgRect" presStyleLbl="bgShp" presStyleIdx="1" presStyleCnt="7"/>
      <dgm:spPr/>
    </dgm:pt>
    <dgm:pt modelId="{5482B8FC-25AD-4859-A75C-57CBFB11A4E1}" type="pres">
      <dgm:prSet presAssocID="{36DB1FE8-BB7D-4D95-BE2B-691F85B6D6E7}"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Needle"/>
        </a:ext>
      </dgm:extLst>
    </dgm:pt>
    <dgm:pt modelId="{77E2F6DC-75FD-43D3-8A25-8EB22740213F}" type="pres">
      <dgm:prSet presAssocID="{36DB1FE8-BB7D-4D95-BE2B-691F85B6D6E7}" presName="spaceRect" presStyleCnt="0"/>
      <dgm:spPr/>
    </dgm:pt>
    <dgm:pt modelId="{1099034A-C8FE-477D-AE6C-FCBDC6DF12EC}" type="pres">
      <dgm:prSet presAssocID="{36DB1FE8-BB7D-4D95-BE2B-691F85B6D6E7}" presName="textRect" presStyleLbl="revTx" presStyleIdx="1" presStyleCnt="7">
        <dgm:presLayoutVars>
          <dgm:chMax val="1"/>
          <dgm:chPref val="1"/>
        </dgm:presLayoutVars>
      </dgm:prSet>
      <dgm:spPr/>
    </dgm:pt>
    <dgm:pt modelId="{EFCF0B14-80B0-4D30-A434-641692A3A123}" type="pres">
      <dgm:prSet presAssocID="{155FE26E-E227-40AB-A3E9-EFA4F0144C4D}" presName="sibTrans" presStyleLbl="sibTrans2D1" presStyleIdx="0" presStyleCnt="0"/>
      <dgm:spPr/>
    </dgm:pt>
    <dgm:pt modelId="{54D2B777-F5E6-4C53-A485-316600FB63E6}" type="pres">
      <dgm:prSet presAssocID="{4DBDCD76-2749-47F9-9C38-787E666C1A18}" presName="compNode" presStyleCnt="0"/>
      <dgm:spPr/>
    </dgm:pt>
    <dgm:pt modelId="{66160D68-9DDD-4774-9589-B90AC78087C8}" type="pres">
      <dgm:prSet presAssocID="{4DBDCD76-2749-47F9-9C38-787E666C1A18}" presName="iconBgRect" presStyleLbl="bgShp" presStyleIdx="2" presStyleCnt="7"/>
      <dgm:spPr/>
    </dgm:pt>
    <dgm:pt modelId="{A1090FC3-B6ED-4C27-9A5F-B3B087140ACE}" type="pres">
      <dgm:prSet presAssocID="{4DBDCD76-2749-47F9-9C38-787E666C1A18}"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Eye dropper"/>
        </a:ext>
      </dgm:extLst>
    </dgm:pt>
    <dgm:pt modelId="{490D18F8-6AC4-4AF1-873F-690E52753E7C}" type="pres">
      <dgm:prSet presAssocID="{4DBDCD76-2749-47F9-9C38-787E666C1A18}" presName="spaceRect" presStyleCnt="0"/>
      <dgm:spPr/>
    </dgm:pt>
    <dgm:pt modelId="{67C814CD-7804-4EB3-A4DE-3811193945E9}" type="pres">
      <dgm:prSet presAssocID="{4DBDCD76-2749-47F9-9C38-787E666C1A18}" presName="textRect" presStyleLbl="revTx" presStyleIdx="2" presStyleCnt="7">
        <dgm:presLayoutVars>
          <dgm:chMax val="1"/>
          <dgm:chPref val="1"/>
        </dgm:presLayoutVars>
      </dgm:prSet>
      <dgm:spPr/>
    </dgm:pt>
    <dgm:pt modelId="{FEEA9322-4CEF-4424-89DF-67E4A2E0176E}" type="pres">
      <dgm:prSet presAssocID="{DB676BEA-AA07-464E-A56A-C03BCB718D0D}" presName="sibTrans" presStyleLbl="sibTrans2D1" presStyleIdx="0" presStyleCnt="0"/>
      <dgm:spPr/>
    </dgm:pt>
    <dgm:pt modelId="{EBD38308-B180-453D-86E2-BF7DDB276749}" type="pres">
      <dgm:prSet presAssocID="{044626C4-7E95-4AC4-99C7-7448B5F4E68C}" presName="compNode" presStyleCnt="0"/>
      <dgm:spPr/>
    </dgm:pt>
    <dgm:pt modelId="{26A1FA32-624B-485A-BE23-18734011E4D1}" type="pres">
      <dgm:prSet presAssocID="{044626C4-7E95-4AC4-99C7-7448B5F4E68C}" presName="iconBgRect" presStyleLbl="bgShp" presStyleIdx="3" presStyleCnt="7"/>
      <dgm:spPr/>
    </dgm:pt>
    <dgm:pt modelId="{6E92757C-5133-47A2-B641-6F755986B039}" type="pres">
      <dgm:prSet presAssocID="{044626C4-7E95-4AC4-99C7-7448B5F4E68C}"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ethoscope"/>
        </a:ext>
      </dgm:extLst>
    </dgm:pt>
    <dgm:pt modelId="{313018F6-F209-4E8C-8905-D455CFBE3336}" type="pres">
      <dgm:prSet presAssocID="{044626C4-7E95-4AC4-99C7-7448B5F4E68C}" presName="spaceRect" presStyleCnt="0"/>
      <dgm:spPr/>
    </dgm:pt>
    <dgm:pt modelId="{276AE11D-3DCA-44D3-9E3E-D3C764066781}" type="pres">
      <dgm:prSet presAssocID="{044626C4-7E95-4AC4-99C7-7448B5F4E68C}" presName="textRect" presStyleLbl="revTx" presStyleIdx="3" presStyleCnt="7">
        <dgm:presLayoutVars>
          <dgm:chMax val="1"/>
          <dgm:chPref val="1"/>
        </dgm:presLayoutVars>
      </dgm:prSet>
      <dgm:spPr/>
    </dgm:pt>
    <dgm:pt modelId="{0C508ADE-D99E-4B36-AA6C-23CB5A5070C7}" type="pres">
      <dgm:prSet presAssocID="{01AE42BA-0D59-4930-A8AC-A60330088BDC}" presName="sibTrans" presStyleLbl="sibTrans2D1" presStyleIdx="0" presStyleCnt="0"/>
      <dgm:spPr/>
    </dgm:pt>
    <dgm:pt modelId="{B0F06A09-EF05-4F31-8FDE-92C913272E3B}" type="pres">
      <dgm:prSet presAssocID="{4E474E55-455F-4C57-ABAC-7584209A0AA6}" presName="compNode" presStyleCnt="0"/>
      <dgm:spPr/>
    </dgm:pt>
    <dgm:pt modelId="{9101451F-D00E-477E-B0E9-82B549C79ADF}" type="pres">
      <dgm:prSet presAssocID="{4E474E55-455F-4C57-ABAC-7584209A0AA6}" presName="iconBgRect" presStyleLbl="bgShp" presStyleIdx="4" presStyleCnt="7"/>
      <dgm:spPr/>
    </dgm:pt>
    <dgm:pt modelId="{1F60E9E6-30F9-4D60-B41D-893BB5A626F9}" type="pres">
      <dgm:prSet presAssocID="{4E474E55-455F-4C57-ABAC-7584209A0AA6}"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Medicine"/>
        </a:ext>
      </dgm:extLst>
    </dgm:pt>
    <dgm:pt modelId="{1CEA31D4-5BC5-4D46-9C55-F888B41C0514}" type="pres">
      <dgm:prSet presAssocID="{4E474E55-455F-4C57-ABAC-7584209A0AA6}" presName="spaceRect" presStyleCnt="0"/>
      <dgm:spPr/>
    </dgm:pt>
    <dgm:pt modelId="{E4868476-4C28-4AD5-B0A1-5F33C98919E5}" type="pres">
      <dgm:prSet presAssocID="{4E474E55-455F-4C57-ABAC-7584209A0AA6}" presName="textRect" presStyleLbl="revTx" presStyleIdx="4" presStyleCnt="7">
        <dgm:presLayoutVars>
          <dgm:chMax val="1"/>
          <dgm:chPref val="1"/>
        </dgm:presLayoutVars>
      </dgm:prSet>
      <dgm:spPr/>
    </dgm:pt>
    <dgm:pt modelId="{48040DDD-D98A-409B-BD50-2BEB1E930086}" type="pres">
      <dgm:prSet presAssocID="{33721B23-7D5C-4ED0-B23C-296AC3D31AD2}" presName="sibTrans" presStyleLbl="sibTrans2D1" presStyleIdx="0" presStyleCnt="0"/>
      <dgm:spPr/>
    </dgm:pt>
    <dgm:pt modelId="{713A3FF7-C8F5-4F00-9C74-BDAD8C830590}" type="pres">
      <dgm:prSet presAssocID="{737B86CA-B29F-4B6E-A9A4-B2C1F118C619}" presName="compNode" presStyleCnt="0"/>
      <dgm:spPr/>
    </dgm:pt>
    <dgm:pt modelId="{2ECD308F-E8FA-443F-964D-04413FBB56B8}" type="pres">
      <dgm:prSet presAssocID="{737B86CA-B29F-4B6E-A9A4-B2C1F118C619}" presName="iconBgRect" presStyleLbl="bgShp" presStyleIdx="5" presStyleCnt="7"/>
      <dgm:spPr/>
    </dgm:pt>
    <dgm:pt modelId="{7BACBBC1-CC79-4F3B-8E18-B1B54A1A3855}" type="pres">
      <dgm:prSet presAssocID="{737B86CA-B29F-4B6E-A9A4-B2C1F118C619}"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Eye"/>
        </a:ext>
      </dgm:extLst>
    </dgm:pt>
    <dgm:pt modelId="{0FE72939-DD7C-423D-94D7-EC7976AA4F2A}" type="pres">
      <dgm:prSet presAssocID="{737B86CA-B29F-4B6E-A9A4-B2C1F118C619}" presName="spaceRect" presStyleCnt="0"/>
      <dgm:spPr/>
    </dgm:pt>
    <dgm:pt modelId="{B3164612-6204-47F3-9F48-AEA17B962C92}" type="pres">
      <dgm:prSet presAssocID="{737B86CA-B29F-4B6E-A9A4-B2C1F118C619}" presName="textRect" presStyleLbl="revTx" presStyleIdx="5" presStyleCnt="7">
        <dgm:presLayoutVars>
          <dgm:chMax val="1"/>
          <dgm:chPref val="1"/>
        </dgm:presLayoutVars>
      </dgm:prSet>
      <dgm:spPr/>
    </dgm:pt>
    <dgm:pt modelId="{6A2BBDF2-DF56-4BDA-A083-FFE968A50010}" type="pres">
      <dgm:prSet presAssocID="{85DEFF1F-E974-4DC6-9B66-13B3929C1881}" presName="sibTrans" presStyleLbl="sibTrans2D1" presStyleIdx="0" presStyleCnt="0"/>
      <dgm:spPr/>
    </dgm:pt>
    <dgm:pt modelId="{3E919E00-F2B0-40F0-8461-7AE50C10A5E1}" type="pres">
      <dgm:prSet presAssocID="{C40D6517-FE3C-43FB-B705-33AA828FC5F7}" presName="compNode" presStyleCnt="0"/>
      <dgm:spPr/>
    </dgm:pt>
    <dgm:pt modelId="{E8776A71-8718-4F68-83CB-8E9597429115}" type="pres">
      <dgm:prSet presAssocID="{C40D6517-FE3C-43FB-B705-33AA828FC5F7}" presName="iconBgRect" presStyleLbl="bgShp" presStyleIdx="6" presStyleCnt="7"/>
      <dgm:spPr/>
    </dgm:pt>
    <dgm:pt modelId="{48D91803-A83E-420F-B054-B937A04E016B}" type="pres">
      <dgm:prSet presAssocID="{C40D6517-FE3C-43FB-B705-33AA828FC5F7}"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DNA"/>
        </a:ext>
      </dgm:extLst>
    </dgm:pt>
    <dgm:pt modelId="{499BED62-5353-4B5B-9390-2193FEBFCE16}" type="pres">
      <dgm:prSet presAssocID="{C40D6517-FE3C-43FB-B705-33AA828FC5F7}" presName="spaceRect" presStyleCnt="0"/>
      <dgm:spPr/>
    </dgm:pt>
    <dgm:pt modelId="{2A69312A-353B-4C34-85CB-BDA225546D3E}" type="pres">
      <dgm:prSet presAssocID="{C40D6517-FE3C-43FB-B705-33AA828FC5F7}" presName="textRect" presStyleLbl="revTx" presStyleIdx="6" presStyleCnt="7">
        <dgm:presLayoutVars>
          <dgm:chMax val="1"/>
          <dgm:chPref val="1"/>
        </dgm:presLayoutVars>
      </dgm:prSet>
      <dgm:spPr/>
    </dgm:pt>
  </dgm:ptLst>
  <dgm:cxnLst>
    <dgm:cxn modelId="{ED68AA01-3F40-40E3-BA63-B6422C1A3261}" type="presOf" srcId="{155FE26E-E227-40AB-A3E9-EFA4F0144C4D}" destId="{EFCF0B14-80B0-4D30-A434-641692A3A123}" srcOrd="0" destOrd="0" presId="urn:microsoft.com/office/officeart/2018/2/layout/IconCircleList"/>
    <dgm:cxn modelId="{B4685B20-DF0E-4419-95EE-0A3046DADD40}" srcId="{87CEC519-CD6A-4740-8D2F-382021130634}" destId="{044626C4-7E95-4AC4-99C7-7448B5F4E68C}" srcOrd="3" destOrd="0" parTransId="{C3B6C884-ECB8-40CC-BF5D-EFB82ABA299A}" sibTransId="{01AE42BA-0D59-4930-A8AC-A60330088BDC}"/>
    <dgm:cxn modelId="{8194D229-66D5-4E5A-A499-B12654FF1A57}" type="presOf" srcId="{87CEC519-CD6A-4740-8D2F-382021130634}" destId="{F946037B-71E5-4296-B361-3B3F42865C5B}" srcOrd="0" destOrd="0" presId="urn:microsoft.com/office/officeart/2018/2/layout/IconCircleList"/>
    <dgm:cxn modelId="{7C9BB93B-A17B-4E1A-811A-687AF219A3AC}" type="presOf" srcId="{044626C4-7E95-4AC4-99C7-7448B5F4E68C}" destId="{276AE11D-3DCA-44D3-9E3E-D3C764066781}" srcOrd="0" destOrd="0" presId="urn:microsoft.com/office/officeart/2018/2/layout/IconCircleList"/>
    <dgm:cxn modelId="{0D0E1A3E-A5E2-49D1-81B4-C3881957C3EA}" type="presOf" srcId="{C40D6517-FE3C-43FB-B705-33AA828FC5F7}" destId="{2A69312A-353B-4C34-85CB-BDA225546D3E}" srcOrd="0" destOrd="0" presId="urn:microsoft.com/office/officeart/2018/2/layout/IconCircleList"/>
    <dgm:cxn modelId="{ADD6F85B-9B00-4A39-A9CB-101012FFE0AB}" type="presOf" srcId="{36DB1FE8-BB7D-4D95-BE2B-691F85B6D6E7}" destId="{1099034A-C8FE-477D-AE6C-FCBDC6DF12EC}" srcOrd="0" destOrd="0" presId="urn:microsoft.com/office/officeart/2018/2/layout/IconCircleList"/>
    <dgm:cxn modelId="{79618D43-051C-4997-902F-211BEA3ECC4A}" type="presOf" srcId="{8E39D32D-56C5-4A99-A746-95995D1FEB33}" destId="{5CA99F6A-3B13-4A81-ABFC-7487555443DB}" srcOrd="0" destOrd="0" presId="urn:microsoft.com/office/officeart/2018/2/layout/IconCircleList"/>
    <dgm:cxn modelId="{32664F64-80DE-4B77-8B2D-CA1091AFE309}" type="presOf" srcId="{85DEFF1F-E974-4DC6-9B66-13B3929C1881}" destId="{6A2BBDF2-DF56-4BDA-A083-FFE968A50010}" srcOrd="0" destOrd="0" presId="urn:microsoft.com/office/officeart/2018/2/layout/IconCircleList"/>
    <dgm:cxn modelId="{EAA63B67-53C0-471B-9865-FA2B81006AD3}" srcId="{87CEC519-CD6A-4740-8D2F-382021130634}" destId="{36DB1FE8-BB7D-4D95-BE2B-691F85B6D6E7}" srcOrd="1" destOrd="0" parTransId="{B3F49195-C7C8-4D56-9DF7-D27369125EAF}" sibTransId="{155FE26E-E227-40AB-A3E9-EFA4F0144C4D}"/>
    <dgm:cxn modelId="{ACDA004E-F955-40D9-981B-0B9CF3D41992}" srcId="{87CEC519-CD6A-4740-8D2F-382021130634}" destId="{4DBDCD76-2749-47F9-9C38-787E666C1A18}" srcOrd="2" destOrd="0" parTransId="{153C81E6-DE59-460A-A094-3096AE9FAC43}" sibTransId="{DB676BEA-AA07-464E-A56A-C03BCB718D0D}"/>
    <dgm:cxn modelId="{E01D3677-2C9B-42D7-BE46-4D6544BBA253}" type="presOf" srcId="{9BF6C52E-28B3-4C40-BF9F-CD7A473855F2}" destId="{2B4710A5-0A17-4981-8894-5EBFCD28C401}" srcOrd="0" destOrd="0" presId="urn:microsoft.com/office/officeart/2018/2/layout/IconCircleList"/>
    <dgm:cxn modelId="{79F4667E-D3C2-4A90-A342-F81B596395A1}" type="presOf" srcId="{DB676BEA-AA07-464E-A56A-C03BCB718D0D}" destId="{FEEA9322-4CEF-4424-89DF-67E4A2E0176E}" srcOrd="0" destOrd="0" presId="urn:microsoft.com/office/officeart/2018/2/layout/IconCircleList"/>
    <dgm:cxn modelId="{944ED181-8909-4037-877E-0D30490D07AB}" type="presOf" srcId="{4DBDCD76-2749-47F9-9C38-787E666C1A18}" destId="{67C814CD-7804-4EB3-A4DE-3811193945E9}" srcOrd="0" destOrd="0" presId="urn:microsoft.com/office/officeart/2018/2/layout/IconCircleList"/>
    <dgm:cxn modelId="{45C7E193-98C7-4F91-A83E-F25F4959CACE}" type="presOf" srcId="{33721B23-7D5C-4ED0-B23C-296AC3D31AD2}" destId="{48040DDD-D98A-409B-BD50-2BEB1E930086}" srcOrd="0" destOrd="0" presId="urn:microsoft.com/office/officeart/2018/2/layout/IconCircleList"/>
    <dgm:cxn modelId="{442B9D9C-8235-4E97-8F5F-76492F902F25}" type="presOf" srcId="{4E474E55-455F-4C57-ABAC-7584209A0AA6}" destId="{E4868476-4C28-4AD5-B0A1-5F33C98919E5}" srcOrd="0" destOrd="0" presId="urn:microsoft.com/office/officeart/2018/2/layout/IconCircleList"/>
    <dgm:cxn modelId="{1929CBA1-C632-4F50-B1CD-746562C8B9C7}" type="presOf" srcId="{01AE42BA-0D59-4930-A8AC-A60330088BDC}" destId="{0C508ADE-D99E-4B36-AA6C-23CB5A5070C7}" srcOrd="0" destOrd="0" presId="urn:microsoft.com/office/officeart/2018/2/layout/IconCircleList"/>
    <dgm:cxn modelId="{418FDAA3-BF6F-4FC6-912A-CE9D43C44175}" srcId="{87CEC519-CD6A-4740-8D2F-382021130634}" destId="{4E474E55-455F-4C57-ABAC-7584209A0AA6}" srcOrd="4" destOrd="0" parTransId="{D9E78809-1CC6-4D29-9DAC-ABBAE225C451}" sibTransId="{33721B23-7D5C-4ED0-B23C-296AC3D31AD2}"/>
    <dgm:cxn modelId="{894609AF-D6C9-4FBF-A85B-EB8922113912}" srcId="{87CEC519-CD6A-4740-8D2F-382021130634}" destId="{737B86CA-B29F-4B6E-A9A4-B2C1F118C619}" srcOrd="5" destOrd="0" parTransId="{0B8C61F9-A42D-4E4C-A871-650CED9775FA}" sibTransId="{85DEFF1F-E974-4DC6-9B66-13B3929C1881}"/>
    <dgm:cxn modelId="{368B89B3-1C54-45B4-B64D-A64733ED3F66}" type="presOf" srcId="{737B86CA-B29F-4B6E-A9A4-B2C1F118C619}" destId="{B3164612-6204-47F3-9F48-AEA17B962C92}" srcOrd="0" destOrd="0" presId="urn:microsoft.com/office/officeart/2018/2/layout/IconCircleList"/>
    <dgm:cxn modelId="{07DF0CD0-5D11-46B6-BD46-8FCE3A7F6CEA}" srcId="{87CEC519-CD6A-4740-8D2F-382021130634}" destId="{C40D6517-FE3C-43FB-B705-33AA828FC5F7}" srcOrd="6" destOrd="0" parTransId="{5440EB04-86F5-4BA0-960D-C2743DD4B799}" sibTransId="{018451BD-7C69-4181-AB64-1968E1AECCB4}"/>
    <dgm:cxn modelId="{80E026E9-A0DC-4E18-8530-217E8C49A9A2}" srcId="{87CEC519-CD6A-4740-8D2F-382021130634}" destId="{8E39D32D-56C5-4A99-A746-95995D1FEB33}" srcOrd="0" destOrd="0" parTransId="{53C36065-19F2-4D9C-9ED7-7EC8AE5CD6B7}" sibTransId="{9BF6C52E-28B3-4C40-BF9F-CD7A473855F2}"/>
    <dgm:cxn modelId="{6710C6A9-8549-4A92-A471-7D69F507DED6}" type="presParOf" srcId="{F946037B-71E5-4296-B361-3B3F42865C5B}" destId="{9BB5DCBB-1499-46E2-B1D6-52F31FF79909}" srcOrd="0" destOrd="0" presId="urn:microsoft.com/office/officeart/2018/2/layout/IconCircleList"/>
    <dgm:cxn modelId="{A95FB61E-0802-45F2-A614-637E757BDF59}" type="presParOf" srcId="{9BB5DCBB-1499-46E2-B1D6-52F31FF79909}" destId="{1922CA41-C639-4185-AA0E-64D3BDA20A23}" srcOrd="0" destOrd="0" presId="urn:microsoft.com/office/officeart/2018/2/layout/IconCircleList"/>
    <dgm:cxn modelId="{184CA001-0F66-4E2E-831F-93C84E0A91E6}" type="presParOf" srcId="{1922CA41-C639-4185-AA0E-64D3BDA20A23}" destId="{FCAADA51-718B-4304-B019-9D91D9F3DCBE}" srcOrd="0" destOrd="0" presId="urn:microsoft.com/office/officeart/2018/2/layout/IconCircleList"/>
    <dgm:cxn modelId="{589C4427-5E88-4E62-87E0-2B7FEA144BD5}" type="presParOf" srcId="{1922CA41-C639-4185-AA0E-64D3BDA20A23}" destId="{E9B9CD66-DDBD-4CDC-A9E8-53C40882E2C2}" srcOrd="1" destOrd="0" presId="urn:microsoft.com/office/officeart/2018/2/layout/IconCircleList"/>
    <dgm:cxn modelId="{C96A7626-423B-47A1-8475-294360C2188E}" type="presParOf" srcId="{1922CA41-C639-4185-AA0E-64D3BDA20A23}" destId="{0AE6FC52-BC8E-44D2-9C9B-53D0B7815AA2}" srcOrd="2" destOrd="0" presId="urn:microsoft.com/office/officeart/2018/2/layout/IconCircleList"/>
    <dgm:cxn modelId="{A04686DC-5CEB-4E12-9151-2C80E3F3B3FA}" type="presParOf" srcId="{1922CA41-C639-4185-AA0E-64D3BDA20A23}" destId="{5CA99F6A-3B13-4A81-ABFC-7487555443DB}" srcOrd="3" destOrd="0" presId="urn:microsoft.com/office/officeart/2018/2/layout/IconCircleList"/>
    <dgm:cxn modelId="{EC659B69-C20C-4514-81F7-8DE64F30F68E}" type="presParOf" srcId="{9BB5DCBB-1499-46E2-B1D6-52F31FF79909}" destId="{2B4710A5-0A17-4981-8894-5EBFCD28C401}" srcOrd="1" destOrd="0" presId="urn:microsoft.com/office/officeart/2018/2/layout/IconCircleList"/>
    <dgm:cxn modelId="{0F3067EA-9597-42DA-9B34-32C5192FFB5B}" type="presParOf" srcId="{9BB5DCBB-1499-46E2-B1D6-52F31FF79909}" destId="{0B8FD7D5-D747-4E6E-B19F-A0AD513AFD78}" srcOrd="2" destOrd="0" presId="urn:microsoft.com/office/officeart/2018/2/layout/IconCircleList"/>
    <dgm:cxn modelId="{75E64C0E-D0DB-4C8B-8EC2-6C3ADAB55EF7}" type="presParOf" srcId="{0B8FD7D5-D747-4E6E-B19F-A0AD513AFD78}" destId="{4B55966C-7955-4F00-9726-B8A0BA9204C1}" srcOrd="0" destOrd="0" presId="urn:microsoft.com/office/officeart/2018/2/layout/IconCircleList"/>
    <dgm:cxn modelId="{AA4A0998-F055-4F29-95EB-1CA7AE7B7FC8}" type="presParOf" srcId="{0B8FD7D5-D747-4E6E-B19F-A0AD513AFD78}" destId="{5482B8FC-25AD-4859-A75C-57CBFB11A4E1}" srcOrd="1" destOrd="0" presId="urn:microsoft.com/office/officeart/2018/2/layout/IconCircleList"/>
    <dgm:cxn modelId="{E256E5B1-7433-4226-8CD5-D712080DD86E}" type="presParOf" srcId="{0B8FD7D5-D747-4E6E-B19F-A0AD513AFD78}" destId="{77E2F6DC-75FD-43D3-8A25-8EB22740213F}" srcOrd="2" destOrd="0" presId="urn:microsoft.com/office/officeart/2018/2/layout/IconCircleList"/>
    <dgm:cxn modelId="{9DCA4F37-6B04-49A5-8499-8CB9C05040C7}" type="presParOf" srcId="{0B8FD7D5-D747-4E6E-B19F-A0AD513AFD78}" destId="{1099034A-C8FE-477D-AE6C-FCBDC6DF12EC}" srcOrd="3" destOrd="0" presId="urn:microsoft.com/office/officeart/2018/2/layout/IconCircleList"/>
    <dgm:cxn modelId="{8353EDBB-80B7-442E-A4B4-06727F1E735B}" type="presParOf" srcId="{9BB5DCBB-1499-46E2-B1D6-52F31FF79909}" destId="{EFCF0B14-80B0-4D30-A434-641692A3A123}" srcOrd="3" destOrd="0" presId="urn:microsoft.com/office/officeart/2018/2/layout/IconCircleList"/>
    <dgm:cxn modelId="{196DA8ED-E9B0-4B84-87FF-80381E161920}" type="presParOf" srcId="{9BB5DCBB-1499-46E2-B1D6-52F31FF79909}" destId="{54D2B777-F5E6-4C53-A485-316600FB63E6}" srcOrd="4" destOrd="0" presId="urn:microsoft.com/office/officeart/2018/2/layout/IconCircleList"/>
    <dgm:cxn modelId="{EE3D91E9-2A6D-4A78-81A8-95F53A149796}" type="presParOf" srcId="{54D2B777-F5E6-4C53-A485-316600FB63E6}" destId="{66160D68-9DDD-4774-9589-B90AC78087C8}" srcOrd="0" destOrd="0" presId="urn:microsoft.com/office/officeart/2018/2/layout/IconCircleList"/>
    <dgm:cxn modelId="{1E144344-5902-4657-B56D-37B58DC62A03}" type="presParOf" srcId="{54D2B777-F5E6-4C53-A485-316600FB63E6}" destId="{A1090FC3-B6ED-4C27-9A5F-B3B087140ACE}" srcOrd="1" destOrd="0" presId="urn:microsoft.com/office/officeart/2018/2/layout/IconCircleList"/>
    <dgm:cxn modelId="{C867DF62-F734-4069-B726-957514AA71DA}" type="presParOf" srcId="{54D2B777-F5E6-4C53-A485-316600FB63E6}" destId="{490D18F8-6AC4-4AF1-873F-690E52753E7C}" srcOrd="2" destOrd="0" presId="urn:microsoft.com/office/officeart/2018/2/layout/IconCircleList"/>
    <dgm:cxn modelId="{198213CA-15C9-4CD0-A229-8E8ADA3E752A}" type="presParOf" srcId="{54D2B777-F5E6-4C53-A485-316600FB63E6}" destId="{67C814CD-7804-4EB3-A4DE-3811193945E9}" srcOrd="3" destOrd="0" presId="urn:microsoft.com/office/officeart/2018/2/layout/IconCircleList"/>
    <dgm:cxn modelId="{CD3EED07-BF11-4D95-AA5B-7EF0ED41A676}" type="presParOf" srcId="{9BB5DCBB-1499-46E2-B1D6-52F31FF79909}" destId="{FEEA9322-4CEF-4424-89DF-67E4A2E0176E}" srcOrd="5" destOrd="0" presId="urn:microsoft.com/office/officeart/2018/2/layout/IconCircleList"/>
    <dgm:cxn modelId="{79720F0E-281A-49D9-9B4E-B078591FA274}" type="presParOf" srcId="{9BB5DCBB-1499-46E2-B1D6-52F31FF79909}" destId="{EBD38308-B180-453D-86E2-BF7DDB276749}" srcOrd="6" destOrd="0" presId="urn:microsoft.com/office/officeart/2018/2/layout/IconCircleList"/>
    <dgm:cxn modelId="{02E75083-D232-47DB-8C9B-40170049F763}" type="presParOf" srcId="{EBD38308-B180-453D-86E2-BF7DDB276749}" destId="{26A1FA32-624B-485A-BE23-18734011E4D1}" srcOrd="0" destOrd="0" presId="urn:microsoft.com/office/officeart/2018/2/layout/IconCircleList"/>
    <dgm:cxn modelId="{0A7B6522-459D-4D23-B62C-BF7F43E132D9}" type="presParOf" srcId="{EBD38308-B180-453D-86E2-BF7DDB276749}" destId="{6E92757C-5133-47A2-B641-6F755986B039}" srcOrd="1" destOrd="0" presId="urn:microsoft.com/office/officeart/2018/2/layout/IconCircleList"/>
    <dgm:cxn modelId="{0C9311F3-F3A5-4497-9199-F14F6F638EAE}" type="presParOf" srcId="{EBD38308-B180-453D-86E2-BF7DDB276749}" destId="{313018F6-F209-4E8C-8905-D455CFBE3336}" srcOrd="2" destOrd="0" presId="urn:microsoft.com/office/officeart/2018/2/layout/IconCircleList"/>
    <dgm:cxn modelId="{4215EAAF-A8CC-494E-A289-55B3601C53BC}" type="presParOf" srcId="{EBD38308-B180-453D-86E2-BF7DDB276749}" destId="{276AE11D-3DCA-44D3-9E3E-D3C764066781}" srcOrd="3" destOrd="0" presId="urn:microsoft.com/office/officeart/2018/2/layout/IconCircleList"/>
    <dgm:cxn modelId="{B5BCDAD1-9E6C-4B01-AB13-75878D814A02}" type="presParOf" srcId="{9BB5DCBB-1499-46E2-B1D6-52F31FF79909}" destId="{0C508ADE-D99E-4B36-AA6C-23CB5A5070C7}" srcOrd="7" destOrd="0" presId="urn:microsoft.com/office/officeart/2018/2/layout/IconCircleList"/>
    <dgm:cxn modelId="{CE1E0690-FCE1-4665-9932-AC1E3384ECB9}" type="presParOf" srcId="{9BB5DCBB-1499-46E2-B1D6-52F31FF79909}" destId="{B0F06A09-EF05-4F31-8FDE-92C913272E3B}" srcOrd="8" destOrd="0" presId="urn:microsoft.com/office/officeart/2018/2/layout/IconCircleList"/>
    <dgm:cxn modelId="{AEE3F866-12E5-4A68-A777-5A9CA65701CC}" type="presParOf" srcId="{B0F06A09-EF05-4F31-8FDE-92C913272E3B}" destId="{9101451F-D00E-477E-B0E9-82B549C79ADF}" srcOrd="0" destOrd="0" presId="urn:microsoft.com/office/officeart/2018/2/layout/IconCircleList"/>
    <dgm:cxn modelId="{D4660E20-87E6-4321-85CD-53428845C7DE}" type="presParOf" srcId="{B0F06A09-EF05-4F31-8FDE-92C913272E3B}" destId="{1F60E9E6-30F9-4D60-B41D-893BB5A626F9}" srcOrd="1" destOrd="0" presId="urn:microsoft.com/office/officeart/2018/2/layout/IconCircleList"/>
    <dgm:cxn modelId="{B64FD0D2-B001-4303-AC79-5EBDD6420D17}" type="presParOf" srcId="{B0F06A09-EF05-4F31-8FDE-92C913272E3B}" destId="{1CEA31D4-5BC5-4D46-9C55-F888B41C0514}" srcOrd="2" destOrd="0" presId="urn:microsoft.com/office/officeart/2018/2/layout/IconCircleList"/>
    <dgm:cxn modelId="{D5E42ED1-A267-44B9-9E8D-3C6D1E860820}" type="presParOf" srcId="{B0F06A09-EF05-4F31-8FDE-92C913272E3B}" destId="{E4868476-4C28-4AD5-B0A1-5F33C98919E5}" srcOrd="3" destOrd="0" presId="urn:microsoft.com/office/officeart/2018/2/layout/IconCircleList"/>
    <dgm:cxn modelId="{1755DF51-77CF-4D82-A0BF-D4D49C5DB910}" type="presParOf" srcId="{9BB5DCBB-1499-46E2-B1D6-52F31FF79909}" destId="{48040DDD-D98A-409B-BD50-2BEB1E930086}" srcOrd="9" destOrd="0" presId="urn:microsoft.com/office/officeart/2018/2/layout/IconCircleList"/>
    <dgm:cxn modelId="{9CC2659D-DC48-454E-B80C-1BE9B9CC1249}" type="presParOf" srcId="{9BB5DCBB-1499-46E2-B1D6-52F31FF79909}" destId="{713A3FF7-C8F5-4F00-9C74-BDAD8C830590}" srcOrd="10" destOrd="0" presId="urn:microsoft.com/office/officeart/2018/2/layout/IconCircleList"/>
    <dgm:cxn modelId="{361D3B41-9738-4A8C-8677-2F2A9CDC73F4}" type="presParOf" srcId="{713A3FF7-C8F5-4F00-9C74-BDAD8C830590}" destId="{2ECD308F-E8FA-443F-964D-04413FBB56B8}" srcOrd="0" destOrd="0" presId="urn:microsoft.com/office/officeart/2018/2/layout/IconCircleList"/>
    <dgm:cxn modelId="{16B77DA1-686C-4057-9205-CC490F71142C}" type="presParOf" srcId="{713A3FF7-C8F5-4F00-9C74-BDAD8C830590}" destId="{7BACBBC1-CC79-4F3B-8E18-B1B54A1A3855}" srcOrd="1" destOrd="0" presId="urn:microsoft.com/office/officeart/2018/2/layout/IconCircleList"/>
    <dgm:cxn modelId="{2B24D02A-64DD-4CB0-BC64-A062E83D5462}" type="presParOf" srcId="{713A3FF7-C8F5-4F00-9C74-BDAD8C830590}" destId="{0FE72939-DD7C-423D-94D7-EC7976AA4F2A}" srcOrd="2" destOrd="0" presId="urn:microsoft.com/office/officeart/2018/2/layout/IconCircleList"/>
    <dgm:cxn modelId="{9FA30604-34F7-41F5-8234-88F70AAEA65E}" type="presParOf" srcId="{713A3FF7-C8F5-4F00-9C74-BDAD8C830590}" destId="{B3164612-6204-47F3-9F48-AEA17B962C92}" srcOrd="3" destOrd="0" presId="urn:microsoft.com/office/officeart/2018/2/layout/IconCircleList"/>
    <dgm:cxn modelId="{10411934-023A-4681-B6D8-ADC27E296DBB}" type="presParOf" srcId="{9BB5DCBB-1499-46E2-B1D6-52F31FF79909}" destId="{6A2BBDF2-DF56-4BDA-A083-FFE968A50010}" srcOrd="11" destOrd="0" presId="urn:microsoft.com/office/officeart/2018/2/layout/IconCircleList"/>
    <dgm:cxn modelId="{87FE71C8-94D0-4265-91EF-B66ECB93F4AB}" type="presParOf" srcId="{9BB5DCBB-1499-46E2-B1D6-52F31FF79909}" destId="{3E919E00-F2B0-40F0-8461-7AE50C10A5E1}" srcOrd="12" destOrd="0" presId="urn:microsoft.com/office/officeart/2018/2/layout/IconCircleList"/>
    <dgm:cxn modelId="{86F87682-CB16-47B4-95F5-AC63808CDED7}" type="presParOf" srcId="{3E919E00-F2B0-40F0-8461-7AE50C10A5E1}" destId="{E8776A71-8718-4F68-83CB-8E9597429115}" srcOrd="0" destOrd="0" presId="urn:microsoft.com/office/officeart/2018/2/layout/IconCircleList"/>
    <dgm:cxn modelId="{52BFA132-6880-4523-9780-F900AE1DC99D}" type="presParOf" srcId="{3E919E00-F2B0-40F0-8461-7AE50C10A5E1}" destId="{48D91803-A83E-420F-B054-B937A04E016B}" srcOrd="1" destOrd="0" presId="urn:microsoft.com/office/officeart/2018/2/layout/IconCircleList"/>
    <dgm:cxn modelId="{5EC5F797-3602-4725-ABAB-B529D45E0332}" type="presParOf" srcId="{3E919E00-F2B0-40F0-8461-7AE50C10A5E1}" destId="{499BED62-5353-4B5B-9390-2193FEBFCE16}" srcOrd="2" destOrd="0" presId="urn:microsoft.com/office/officeart/2018/2/layout/IconCircleList"/>
    <dgm:cxn modelId="{538F9C98-50B6-446D-836B-8786D90BA59B}" type="presParOf" srcId="{3E919E00-F2B0-40F0-8461-7AE50C10A5E1}" destId="{2A69312A-353B-4C34-85CB-BDA225546D3E}"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05763A-B99A-4388-B8D9-EA1C2113AAC1}">
      <dsp:nvSpPr>
        <dsp:cNvPr id="0" name=""/>
        <dsp:cNvSpPr/>
      </dsp:nvSpPr>
      <dsp:spPr>
        <a:xfrm>
          <a:off x="0" y="102273"/>
          <a:ext cx="10515600" cy="134578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Spikevax (mRNA-1273)</a:t>
          </a:r>
          <a:endParaRPr lang="en-US" sz="1900" kern="1200"/>
        </a:p>
      </dsp:txBody>
      <dsp:txXfrm>
        <a:off x="65696" y="167969"/>
        <a:ext cx="10384208" cy="1214391"/>
      </dsp:txXfrm>
    </dsp:sp>
    <dsp:sp modelId="{C891BC96-27A8-438A-B776-1795CF4D0B2C}">
      <dsp:nvSpPr>
        <dsp:cNvPr id="0" name=""/>
        <dsp:cNvSpPr/>
      </dsp:nvSpPr>
      <dsp:spPr>
        <a:xfrm>
          <a:off x="0" y="1502777"/>
          <a:ext cx="10515600" cy="134578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Spikevax is Moderna's most successful product and one of the first commercially available mRNA vaccines. The vaccine contains mRNA instructions that enable human cells to produce the spike protein found on the surface of SARS-CoV-2, the virus responsible for COVID-19.</a:t>
          </a:r>
        </a:p>
      </dsp:txBody>
      <dsp:txXfrm>
        <a:off x="65696" y="1568473"/>
        <a:ext cx="10384208" cy="1214391"/>
      </dsp:txXfrm>
    </dsp:sp>
    <dsp:sp modelId="{93461A37-5019-4DF5-8388-89BE4DBB78BF}">
      <dsp:nvSpPr>
        <dsp:cNvPr id="0" name=""/>
        <dsp:cNvSpPr/>
      </dsp:nvSpPr>
      <dsp:spPr>
        <a:xfrm>
          <a:off x="0" y="2903280"/>
          <a:ext cx="10515600" cy="134578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The immune system recognizes this protein as foreign and develops antibodies and immune cells capable of responding rapidly to future infections. Clinical studies demonstrated high effectiveness against severe COVID-19, establishing mRNA technology as a viable and powerful platform for vaccine development.</a:t>
          </a:r>
        </a:p>
      </dsp:txBody>
      <dsp:txXfrm>
        <a:off x="65696" y="2968976"/>
        <a:ext cx="10384208" cy="12143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B095F6-9306-4C08-BC34-F46F2B522862}">
      <dsp:nvSpPr>
        <dsp:cNvPr id="0" name=""/>
        <dsp:cNvSpPr/>
      </dsp:nvSpPr>
      <dsp:spPr>
        <a:xfrm>
          <a:off x="134291" y="612"/>
          <a:ext cx="4332795" cy="275132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A389D0-48F6-482A-9FC8-057236A62B3D}">
      <dsp:nvSpPr>
        <dsp:cNvPr id="0" name=""/>
        <dsp:cNvSpPr/>
      </dsp:nvSpPr>
      <dsp:spPr>
        <a:xfrm>
          <a:off x="615713" y="457963"/>
          <a:ext cx="4332795" cy="2751325"/>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The biotechnology process begins with identifying a protein that can prevent or treat a disease. Scientists then design an mRNA sequence containing instructions for producing that protein. The synthetic mRNA is enclosed within lipid nanoparticles that protect it from degradation and facilitate its delivery into cells.</a:t>
          </a:r>
        </a:p>
      </dsp:txBody>
      <dsp:txXfrm>
        <a:off x="696297" y="538547"/>
        <a:ext cx="4171627" cy="2590157"/>
      </dsp:txXfrm>
    </dsp:sp>
    <dsp:sp modelId="{F4C634A6-6AA8-421C-8876-824847CD3FAD}">
      <dsp:nvSpPr>
        <dsp:cNvPr id="0" name=""/>
        <dsp:cNvSpPr/>
      </dsp:nvSpPr>
      <dsp:spPr>
        <a:xfrm>
          <a:off x="5429930" y="612"/>
          <a:ext cx="4332795" cy="275132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3C8F65-3613-4956-9A25-9A6E2DB7C1B1}">
      <dsp:nvSpPr>
        <dsp:cNvPr id="0" name=""/>
        <dsp:cNvSpPr/>
      </dsp:nvSpPr>
      <dsp:spPr>
        <a:xfrm>
          <a:off x="5911352" y="457963"/>
          <a:ext cx="4332795" cy="2751325"/>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Once inside the cell, the mRNA is translated into the desired protein by cellular machinery. The immune system recognizes this protein and generates a protective response, including antibody production and immune memory. The mRNA itself does not alter the patient's DNA and is naturally degraded after protein production.</a:t>
          </a:r>
        </a:p>
      </dsp:txBody>
      <dsp:txXfrm>
        <a:off x="5991936" y="538547"/>
        <a:ext cx="4171627" cy="25901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210085-123E-47D3-836C-AFB9F9D3BC2B}">
      <dsp:nvSpPr>
        <dsp:cNvPr id="0" name=""/>
        <dsp:cNvSpPr/>
      </dsp:nvSpPr>
      <dsp:spPr>
        <a:xfrm>
          <a:off x="3364992" y="172"/>
          <a:ext cx="3785616" cy="52107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a:t>Global Impact</a:t>
          </a:r>
        </a:p>
      </dsp:txBody>
      <dsp:txXfrm>
        <a:off x="3390429" y="25609"/>
        <a:ext cx="3734742" cy="470202"/>
      </dsp:txXfrm>
    </dsp:sp>
    <dsp:sp modelId="{FB985FA5-2E97-4629-8EB0-5A13A31F6FE8}">
      <dsp:nvSpPr>
        <dsp:cNvPr id="0" name=""/>
        <dsp:cNvSpPr/>
      </dsp:nvSpPr>
      <dsp:spPr>
        <a:xfrm>
          <a:off x="3364992" y="547303"/>
          <a:ext cx="3785616" cy="52107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a:t>Accelerated vaccine development during the pandemic. </a:t>
          </a:r>
        </a:p>
      </dsp:txBody>
      <dsp:txXfrm>
        <a:off x="3390429" y="572740"/>
        <a:ext cx="3734742" cy="470202"/>
      </dsp:txXfrm>
    </dsp:sp>
    <dsp:sp modelId="{132B51EC-52AA-4BE2-A8CA-0473A4A4C8BB}">
      <dsp:nvSpPr>
        <dsp:cNvPr id="0" name=""/>
        <dsp:cNvSpPr/>
      </dsp:nvSpPr>
      <dsp:spPr>
        <a:xfrm>
          <a:off x="3364992" y="1094434"/>
          <a:ext cx="3785616" cy="52107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a:t>Increased confidence in mRNA technology. </a:t>
          </a:r>
        </a:p>
      </dsp:txBody>
      <dsp:txXfrm>
        <a:off x="3390429" y="1119871"/>
        <a:ext cx="3734742" cy="470202"/>
      </dsp:txXfrm>
    </dsp:sp>
    <dsp:sp modelId="{1CADC5A5-DC0E-4729-8E7C-98A3860D6D6B}">
      <dsp:nvSpPr>
        <dsp:cNvPr id="0" name=""/>
        <dsp:cNvSpPr/>
      </dsp:nvSpPr>
      <dsp:spPr>
        <a:xfrm>
          <a:off x="3364992" y="1641565"/>
          <a:ext cx="3785616" cy="52107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a:t>Encouraged investment in biotechnology. </a:t>
          </a:r>
        </a:p>
      </dsp:txBody>
      <dsp:txXfrm>
        <a:off x="3390429" y="1667002"/>
        <a:ext cx="3734742" cy="470202"/>
      </dsp:txXfrm>
    </dsp:sp>
    <dsp:sp modelId="{B4A9D2AD-6FA4-4CD7-B3E8-2BA4FC78C7B2}">
      <dsp:nvSpPr>
        <dsp:cNvPr id="0" name=""/>
        <dsp:cNvSpPr/>
      </dsp:nvSpPr>
      <dsp:spPr>
        <a:xfrm>
          <a:off x="3364992" y="2188695"/>
          <a:ext cx="3785616" cy="52107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a:t>Economic Impact</a:t>
          </a:r>
        </a:p>
      </dsp:txBody>
      <dsp:txXfrm>
        <a:off x="3390429" y="2214132"/>
        <a:ext cx="3734742" cy="470202"/>
      </dsp:txXfrm>
    </dsp:sp>
    <dsp:sp modelId="{6C3D39B1-3C74-4292-AB4E-DA858C354B46}">
      <dsp:nvSpPr>
        <dsp:cNvPr id="0" name=""/>
        <dsp:cNvSpPr/>
      </dsp:nvSpPr>
      <dsp:spPr>
        <a:xfrm>
          <a:off x="3364992" y="2735826"/>
          <a:ext cx="3785616" cy="52107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a:t>Generated billions of dollars in revenue. </a:t>
          </a:r>
        </a:p>
      </dsp:txBody>
      <dsp:txXfrm>
        <a:off x="3390429" y="2761263"/>
        <a:ext cx="3734742" cy="470202"/>
      </dsp:txXfrm>
    </dsp:sp>
    <dsp:sp modelId="{31374E34-234B-4D6F-BAF5-989AA6FF64A8}">
      <dsp:nvSpPr>
        <dsp:cNvPr id="0" name=""/>
        <dsp:cNvSpPr/>
      </dsp:nvSpPr>
      <dsp:spPr>
        <a:xfrm>
          <a:off x="3364992" y="3282957"/>
          <a:ext cx="3785616" cy="52107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a:t>Expanded biotechnology research globally. </a:t>
          </a:r>
        </a:p>
      </dsp:txBody>
      <dsp:txXfrm>
        <a:off x="3390429" y="3308394"/>
        <a:ext cx="3734742" cy="470202"/>
      </dsp:txXfrm>
    </dsp:sp>
    <dsp:sp modelId="{FFABAC6A-0526-47E1-BC6C-218BBE80CA65}">
      <dsp:nvSpPr>
        <dsp:cNvPr id="0" name=""/>
        <dsp:cNvSpPr/>
      </dsp:nvSpPr>
      <dsp:spPr>
        <a:xfrm>
          <a:off x="3364992" y="3830088"/>
          <a:ext cx="3785616" cy="52107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a:t>Created new opportunities for biotechnology startups.</a:t>
          </a:r>
        </a:p>
      </dsp:txBody>
      <dsp:txXfrm>
        <a:off x="3390429" y="3855525"/>
        <a:ext cx="3734742" cy="4702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AADA51-718B-4304-B019-9D91D9F3DCBE}">
      <dsp:nvSpPr>
        <dsp:cNvPr id="0" name=""/>
        <dsp:cNvSpPr/>
      </dsp:nvSpPr>
      <dsp:spPr>
        <a:xfrm>
          <a:off x="82613" y="9007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B9CD66-DDBD-4CDC-A9E8-53C40882E2C2}">
      <dsp:nvSpPr>
        <dsp:cNvPr id="0" name=""/>
        <dsp:cNvSpPr/>
      </dsp:nvSpPr>
      <dsp:spPr>
        <a:xfrm>
          <a:off x="271034" y="27849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A99F6A-3B13-4A81-ABFC-7487555443DB}">
      <dsp:nvSpPr>
        <dsp:cNvPr id="0" name=""/>
        <dsp:cNvSpPr/>
      </dsp:nvSpPr>
      <dsp:spPr>
        <a:xfrm>
          <a:off x="1172126"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Ongoing Research</a:t>
          </a:r>
        </a:p>
      </dsp:txBody>
      <dsp:txXfrm>
        <a:off x="1172126" y="90072"/>
        <a:ext cx="2114937" cy="897246"/>
      </dsp:txXfrm>
    </dsp:sp>
    <dsp:sp modelId="{4B55966C-7955-4F00-9726-B8A0BA9204C1}">
      <dsp:nvSpPr>
        <dsp:cNvPr id="0" name=""/>
        <dsp:cNvSpPr/>
      </dsp:nvSpPr>
      <dsp:spPr>
        <a:xfrm>
          <a:off x="3655575" y="9007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82B8FC-25AD-4859-A75C-57CBFB11A4E1}">
      <dsp:nvSpPr>
        <dsp:cNvPr id="0" name=""/>
        <dsp:cNvSpPr/>
      </dsp:nvSpPr>
      <dsp:spPr>
        <a:xfrm>
          <a:off x="3843996" y="27849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99034A-C8FE-477D-AE6C-FCBDC6DF12EC}">
      <dsp:nvSpPr>
        <dsp:cNvPr id="0" name=""/>
        <dsp:cNvSpPr/>
      </dsp:nvSpPr>
      <dsp:spPr>
        <a:xfrm>
          <a:off x="4745088"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Personalized cancer vaccines. </a:t>
          </a:r>
        </a:p>
      </dsp:txBody>
      <dsp:txXfrm>
        <a:off x="4745088" y="90072"/>
        <a:ext cx="2114937" cy="897246"/>
      </dsp:txXfrm>
    </dsp:sp>
    <dsp:sp modelId="{66160D68-9DDD-4774-9589-B90AC78087C8}">
      <dsp:nvSpPr>
        <dsp:cNvPr id="0" name=""/>
        <dsp:cNvSpPr/>
      </dsp:nvSpPr>
      <dsp:spPr>
        <a:xfrm>
          <a:off x="7228536" y="9007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090FC3-B6ED-4C27-9A5F-B3B087140ACE}">
      <dsp:nvSpPr>
        <dsp:cNvPr id="0" name=""/>
        <dsp:cNvSpPr/>
      </dsp:nvSpPr>
      <dsp:spPr>
        <a:xfrm>
          <a:off x="7416958" y="27849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C814CD-7804-4EB3-A4DE-3811193945E9}">
      <dsp:nvSpPr>
        <dsp:cNvPr id="0" name=""/>
        <dsp:cNvSpPr/>
      </dsp:nvSpPr>
      <dsp:spPr>
        <a:xfrm>
          <a:off x="8318049"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Combination vaccines. </a:t>
          </a:r>
        </a:p>
      </dsp:txBody>
      <dsp:txXfrm>
        <a:off x="8318049" y="90072"/>
        <a:ext cx="2114937" cy="897246"/>
      </dsp:txXfrm>
    </dsp:sp>
    <dsp:sp modelId="{26A1FA32-624B-485A-BE23-18734011E4D1}">
      <dsp:nvSpPr>
        <dsp:cNvPr id="0" name=""/>
        <dsp:cNvSpPr/>
      </dsp:nvSpPr>
      <dsp:spPr>
        <a:xfrm>
          <a:off x="82613" y="1727045"/>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92757C-5133-47A2-B641-6F755986B039}">
      <dsp:nvSpPr>
        <dsp:cNvPr id="0" name=""/>
        <dsp:cNvSpPr/>
      </dsp:nvSpPr>
      <dsp:spPr>
        <a:xfrm>
          <a:off x="271034" y="1915467"/>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6AE11D-3DCA-44D3-9E3E-D3C764066781}">
      <dsp:nvSpPr>
        <dsp:cNvPr id="0" name=""/>
        <dsp:cNvSpPr/>
      </dsp:nvSpPr>
      <dsp:spPr>
        <a:xfrm>
          <a:off x="1172126"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Rare disease treatments. </a:t>
          </a:r>
        </a:p>
      </dsp:txBody>
      <dsp:txXfrm>
        <a:off x="1172126" y="1727045"/>
        <a:ext cx="2114937" cy="897246"/>
      </dsp:txXfrm>
    </dsp:sp>
    <dsp:sp modelId="{9101451F-D00E-477E-B0E9-82B549C79ADF}">
      <dsp:nvSpPr>
        <dsp:cNvPr id="0" name=""/>
        <dsp:cNvSpPr/>
      </dsp:nvSpPr>
      <dsp:spPr>
        <a:xfrm>
          <a:off x="3655575" y="1727045"/>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60E9E6-30F9-4D60-B41D-893BB5A626F9}">
      <dsp:nvSpPr>
        <dsp:cNvPr id="0" name=""/>
        <dsp:cNvSpPr/>
      </dsp:nvSpPr>
      <dsp:spPr>
        <a:xfrm>
          <a:off x="3843996" y="1915467"/>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868476-4C28-4AD5-B0A1-5F33C98919E5}">
      <dsp:nvSpPr>
        <dsp:cNvPr id="0" name=""/>
        <dsp:cNvSpPr/>
      </dsp:nvSpPr>
      <dsp:spPr>
        <a:xfrm>
          <a:off x="4745088"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Autoimmune disease therapies. </a:t>
          </a:r>
        </a:p>
      </dsp:txBody>
      <dsp:txXfrm>
        <a:off x="4745088" y="1727045"/>
        <a:ext cx="2114937" cy="897246"/>
      </dsp:txXfrm>
    </dsp:sp>
    <dsp:sp modelId="{2ECD308F-E8FA-443F-964D-04413FBB56B8}">
      <dsp:nvSpPr>
        <dsp:cNvPr id="0" name=""/>
        <dsp:cNvSpPr/>
      </dsp:nvSpPr>
      <dsp:spPr>
        <a:xfrm>
          <a:off x="7228536" y="1727045"/>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ACBBC1-CC79-4F3B-8E18-B1B54A1A3855}">
      <dsp:nvSpPr>
        <dsp:cNvPr id="0" name=""/>
        <dsp:cNvSpPr/>
      </dsp:nvSpPr>
      <dsp:spPr>
        <a:xfrm>
          <a:off x="7416958" y="1915467"/>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164612-6204-47F3-9F48-AEA17B962C92}">
      <dsp:nvSpPr>
        <dsp:cNvPr id="0" name=""/>
        <dsp:cNvSpPr/>
      </dsp:nvSpPr>
      <dsp:spPr>
        <a:xfrm>
          <a:off x="8318049"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Future Vision</a:t>
          </a:r>
        </a:p>
      </dsp:txBody>
      <dsp:txXfrm>
        <a:off x="8318049" y="1727045"/>
        <a:ext cx="2114937" cy="897246"/>
      </dsp:txXfrm>
    </dsp:sp>
    <dsp:sp modelId="{E8776A71-8718-4F68-83CB-8E9597429115}">
      <dsp:nvSpPr>
        <dsp:cNvPr id="0" name=""/>
        <dsp:cNvSpPr/>
      </dsp:nvSpPr>
      <dsp:spPr>
        <a:xfrm>
          <a:off x="82613" y="336401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D91803-A83E-420F-B054-B937A04E016B}">
      <dsp:nvSpPr>
        <dsp:cNvPr id="0" name=""/>
        <dsp:cNvSpPr/>
      </dsp:nvSpPr>
      <dsp:spPr>
        <a:xfrm>
          <a:off x="271034" y="3552441"/>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69312A-353B-4C34-85CB-BDA225546D3E}">
      <dsp:nvSpPr>
        <dsp:cNvPr id="0" name=""/>
        <dsp:cNvSpPr/>
      </dsp:nvSpPr>
      <dsp:spPr>
        <a:xfrm>
          <a:off x="1172126" y="336401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Moderna aims to create a new generation of medicines based on programmable mRNA technology.</a:t>
          </a:r>
        </a:p>
      </dsp:txBody>
      <dsp:txXfrm>
        <a:off x="1172126" y="3364019"/>
        <a:ext cx="2114937" cy="89724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A93898FF-D987-4B0E-BFB4-85F5EB356D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EB84055-029C-4E86-8844-D05D96C024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a:extLst>
              <a:ext uri="{FF2B5EF4-FFF2-40B4-BE49-F238E27FC236}">
                <a16:creationId xmlns:a16="http://schemas.microsoft.com/office/drawing/2014/main" id="{8A2842C0-6210-4FDB-B1FF-C14C927377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32" name="Rectangle 31">
            <a:extLst>
              <a:ext uri="{FF2B5EF4-FFF2-40B4-BE49-F238E27FC236}">
                <a16:creationId xmlns:a16="http://schemas.microsoft.com/office/drawing/2014/main" id="{799037F2-4CAF-446B-90DB-1480B247A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7128589C-AF3D-49CF-BD92-C1D1D2F53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95844" y="1110000"/>
            <a:ext cx="10195740" cy="4629235"/>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p:cNvSpPr>
            <a:spLocks noGrp="1"/>
          </p:cNvSpPr>
          <p:nvPr>
            <p:ph type="ctrTitle"/>
          </p:nvPr>
        </p:nvSpPr>
        <p:spPr>
          <a:xfrm>
            <a:off x="1991485" y="1600200"/>
            <a:ext cx="8201552" cy="2295748"/>
          </a:xfrm>
        </p:spPr>
        <p:txBody>
          <a:bodyPr anchor="b">
            <a:normAutofit/>
          </a:bodyPr>
          <a:lstStyle/>
          <a:p>
            <a:r>
              <a:rPr lang="en-US" sz="3000" b="1">
                <a:ea typeface="+mj-lt"/>
                <a:cs typeface="+mj-lt"/>
              </a:rPr>
              <a:t>Case Study Analysis </a:t>
            </a:r>
          </a:p>
          <a:p>
            <a:endParaRPr lang="en-US" sz="3000" dirty="0">
              <a:ea typeface="+mj-lt"/>
              <a:cs typeface="+mj-lt"/>
            </a:endParaRPr>
          </a:p>
          <a:p>
            <a:r>
              <a:rPr lang="en-US" sz="3000" b="1">
                <a:ea typeface="+mj-lt"/>
                <a:cs typeface="+mj-lt"/>
              </a:rPr>
              <a:t>Moderna: Revolutionizing Healthcare Through mRNA Biotechnology</a:t>
            </a:r>
            <a:r>
              <a:rPr lang="en-US" sz="3000" dirty="0">
                <a:ea typeface="+mj-lt"/>
                <a:cs typeface="+mj-lt"/>
              </a:rPr>
              <a:t> </a:t>
            </a:r>
            <a:endParaRPr lang="en-US" sz="3000"/>
          </a:p>
          <a:p>
            <a:endParaRPr lang="en-US" sz="3000"/>
          </a:p>
        </p:txBody>
      </p:sp>
      <p:sp>
        <p:nvSpPr>
          <p:cNvPr id="3" name="Subtitle 2"/>
          <p:cNvSpPr>
            <a:spLocks noGrp="1"/>
          </p:cNvSpPr>
          <p:nvPr>
            <p:ph type="subTitle" idx="1"/>
          </p:nvPr>
        </p:nvSpPr>
        <p:spPr>
          <a:xfrm>
            <a:off x="1991485" y="4067661"/>
            <a:ext cx="8201552" cy="1118764"/>
          </a:xfrm>
        </p:spPr>
        <p:txBody>
          <a:bodyPr vert="horz" lIns="91440" tIns="45720" rIns="91440" bIns="45720" rtlCol="0" anchor="t">
            <a:normAutofit/>
          </a:bodyPr>
          <a:lstStyle/>
          <a:p>
            <a:pPr>
              <a:spcBef>
                <a:spcPct val="0"/>
              </a:spcBef>
            </a:pPr>
            <a:r>
              <a:rPr lang="en-US" sz="2000">
                <a:solidFill>
                  <a:schemeClr val="tx1">
                    <a:alpha val="70000"/>
                  </a:schemeClr>
                </a:solidFill>
                <a:latin typeface="Aptos Display"/>
              </a:rPr>
              <a:t>Presented by: AMARA ZARMEEN</a:t>
            </a:r>
          </a:p>
          <a:p>
            <a:pPr>
              <a:spcBef>
                <a:spcPct val="0"/>
              </a:spcBef>
            </a:pPr>
            <a:endParaRPr lang="en-US" sz="2000">
              <a:solidFill>
                <a:schemeClr val="tx1">
                  <a:alpha val="70000"/>
                </a:schemeClr>
              </a:solidFill>
              <a:latin typeface="Aptos Display"/>
            </a:endParaRPr>
          </a:p>
          <a:p>
            <a:endParaRPr lang="en-US" sz="2000">
              <a:solidFill>
                <a:schemeClr val="tx1">
                  <a:alpha val="70000"/>
                </a:schemeClr>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F5BC17E-36E1-06CA-247C-E99CE8ADF345}"/>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INTRODUCTION TO MODERNA</a:t>
            </a:r>
          </a:p>
        </p:txBody>
      </p:sp>
      <p:sp>
        <p:nvSpPr>
          <p:cNvPr id="3" name="Content Placeholder 2">
            <a:extLst>
              <a:ext uri="{FF2B5EF4-FFF2-40B4-BE49-F238E27FC236}">
                <a16:creationId xmlns:a16="http://schemas.microsoft.com/office/drawing/2014/main" id="{5EC26221-8B4B-9F55-E763-CAD44B79D304}"/>
              </a:ext>
            </a:extLst>
          </p:cNvPr>
          <p:cNvSpPr>
            <a:spLocks noGrp="1"/>
          </p:cNvSpPr>
          <p:nvPr>
            <p:ph idx="1"/>
          </p:nvPr>
        </p:nvSpPr>
        <p:spPr>
          <a:xfrm>
            <a:off x="6503158" y="649480"/>
            <a:ext cx="4862447" cy="5546047"/>
          </a:xfrm>
        </p:spPr>
        <p:txBody>
          <a:bodyPr vert="horz" lIns="91440" tIns="45720" rIns="91440" bIns="45720" rtlCol="0" anchor="ctr">
            <a:normAutofit/>
          </a:bodyPr>
          <a:lstStyle/>
          <a:p>
            <a:pPr marL="0" indent="0">
              <a:buNone/>
            </a:pPr>
            <a:r>
              <a:rPr lang="en-US" sz="2000">
                <a:ea typeface="+mn-lt"/>
                <a:cs typeface="+mn-lt"/>
              </a:rPr>
              <a:t>Moderna is a biotechnology company founded in 2010 and headquartered in Cambridge. The company focuses on developing messenger RNA (mRNA)-based medicines and vaccines. Unlike conventional pharmaceutical approaches that directly administer proteins or weakened pathogens, Moderna uses synthetic mRNA to instruct the body's cells to produce specific proteins required for disease prevention or treatment. The company gained worldwide recognition during the COVID-19 pandemic through the successful development of one of the first approved mRNA vaccines</a:t>
            </a:r>
            <a:endParaRPr lang="en-US" sz="2000"/>
          </a:p>
          <a:p>
            <a:endParaRPr lang="en-US" sz="2000"/>
          </a:p>
        </p:txBody>
      </p:sp>
    </p:spTree>
    <p:extLst>
      <p:ext uri="{BB962C8B-B14F-4D97-AF65-F5344CB8AC3E}">
        <p14:creationId xmlns:p14="http://schemas.microsoft.com/office/powerpoint/2010/main" val="2205631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116FA5F-7E51-817A-7E16-0A06FEB6920E}"/>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MRNA TECHNOLOGY</a:t>
            </a:r>
          </a:p>
        </p:txBody>
      </p:sp>
      <p:sp>
        <p:nvSpPr>
          <p:cNvPr id="3" name="Content Placeholder 2">
            <a:extLst>
              <a:ext uri="{FF2B5EF4-FFF2-40B4-BE49-F238E27FC236}">
                <a16:creationId xmlns:a16="http://schemas.microsoft.com/office/drawing/2014/main" id="{41B00FD5-E7F2-E99B-BB17-8A5211FEC83F}"/>
              </a:ext>
            </a:extLst>
          </p:cNvPr>
          <p:cNvSpPr>
            <a:spLocks noGrp="1"/>
          </p:cNvSpPr>
          <p:nvPr>
            <p:ph idx="1"/>
          </p:nvPr>
        </p:nvSpPr>
        <p:spPr>
          <a:xfrm>
            <a:off x="6503158" y="649480"/>
            <a:ext cx="4862447" cy="5546047"/>
          </a:xfrm>
        </p:spPr>
        <p:txBody>
          <a:bodyPr vert="horz" lIns="91440" tIns="45720" rIns="91440" bIns="45720" rtlCol="0" anchor="ctr">
            <a:normAutofit/>
          </a:bodyPr>
          <a:lstStyle/>
          <a:p>
            <a:pPr marL="0" indent="0">
              <a:buNone/>
            </a:pPr>
            <a:endParaRPr lang="en-US" sz="1900"/>
          </a:p>
          <a:p>
            <a:r>
              <a:rPr lang="en-US" sz="1900"/>
              <a:t>Messenger RNA (mRNA)</a:t>
            </a:r>
          </a:p>
          <a:p>
            <a:r>
              <a:rPr lang="en-US" sz="1900">
                <a:ea typeface="+mn-lt"/>
                <a:cs typeface="+mn-lt"/>
              </a:rPr>
              <a:t>mRNA is a molecule that carries genetic instructions from DNA to cells. </a:t>
            </a:r>
            <a:endParaRPr lang="en-US" sz="1900"/>
          </a:p>
          <a:p>
            <a:r>
              <a:rPr lang="en-US" sz="1900">
                <a:ea typeface="+mn-lt"/>
                <a:cs typeface="+mn-lt"/>
              </a:rPr>
              <a:t>Cells use these instructions to produce proteins. </a:t>
            </a:r>
            <a:endParaRPr lang="en-US" sz="1900"/>
          </a:p>
          <a:p>
            <a:r>
              <a:rPr lang="en-US" sz="1900">
                <a:ea typeface="+mn-lt"/>
                <a:cs typeface="+mn-lt"/>
              </a:rPr>
              <a:t>Moderna designs synthetic mRNA that directs cells to make specific proteins. </a:t>
            </a:r>
            <a:endParaRPr lang="en-US" sz="1900"/>
          </a:p>
          <a:p>
            <a:r>
              <a:rPr lang="en-US" sz="1900" b="1"/>
              <a:t>How it Works</a:t>
            </a:r>
          </a:p>
          <a:p>
            <a:r>
              <a:rPr lang="en-US" sz="1900">
                <a:ea typeface="+mn-lt"/>
                <a:cs typeface="+mn-lt"/>
              </a:rPr>
              <a:t>Scientists design mRNA. </a:t>
            </a:r>
            <a:endParaRPr lang="en-US" sz="1900"/>
          </a:p>
          <a:p>
            <a:r>
              <a:rPr lang="en-US" sz="1900">
                <a:ea typeface="+mn-lt"/>
                <a:cs typeface="+mn-lt"/>
              </a:rPr>
              <a:t>mRNA is packaged into lipid nanoparticles. </a:t>
            </a:r>
            <a:endParaRPr lang="en-US" sz="1900"/>
          </a:p>
          <a:p>
            <a:r>
              <a:rPr lang="en-US" sz="1900">
                <a:ea typeface="+mn-lt"/>
                <a:cs typeface="+mn-lt"/>
              </a:rPr>
              <a:t>Injection delivers mRNA into cells. </a:t>
            </a:r>
            <a:endParaRPr lang="en-US" sz="1900"/>
          </a:p>
          <a:p>
            <a:r>
              <a:rPr lang="en-US" sz="1900">
                <a:ea typeface="+mn-lt"/>
                <a:cs typeface="+mn-lt"/>
              </a:rPr>
              <a:t>Cells produce target proteins. </a:t>
            </a:r>
            <a:endParaRPr lang="en-US" sz="1900"/>
          </a:p>
          <a:p>
            <a:r>
              <a:rPr lang="en-US" sz="1900">
                <a:ea typeface="+mn-lt"/>
                <a:cs typeface="+mn-lt"/>
              </a:rPr>
              <a:t>Immune system responds or therapeutic effect occurs.</a:t>
            </a:r>
            <a:endParaRPr lang="en-US" sz="1900"/>
          </a:p>
          <a:p>
            <a:endParaRPr lang="en-US" sz="1900"/>
          </a:p>
        </p:txBody>
      </p:sp>
    </p:spTree>
    <p:extLst>
      <p:ext uri="{BB962C8B-B14F-4D97-AF65-F5344CB8AC3E}">
        <p14:creationId xmlns:p14="http://schemas.microsoft.com/office/powerpoint/2010/main" val="2154662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D96D91-0C94-12FE-4812-BC291EC72D6F}"/>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MAJOR INNOVATION</a:t>
            </a:r>
          </a:p>
        </p:txBody>
      </p:sp>
      <p:sp>
        <p:nvSpPr>
          <p:cNvPr id="3" name="Content Placeholder 2">
            <a:extLst>
              <a:ext uri="{FF2B5EF4-FFF2-40B4-BE49-F238E27FC236}">
                <a16:creationId xmlns:a16="http://schemas.microsoft.com/office/drawing/2014/main" id="{EC8A4D00-3211-D5CA-E26A-CFFC5D502FA8}"/>
              </a:ext>
            </a:extLst>
          </p:cNvPr>
          <p:cNvSpPr>
            <a:spLocks noGrp="1"/>
          </p:cNvSpPr>
          <p:nvPr>
            <p:ph idx="1"/>
          </p:nvPr>
        </p:nvSpPr>
        <p:spPr>
          <a:xfrm>
            <a:off x="4810259" y="649480"/>
            <a:ext cx="6555347" cy="5546047"/>
          </a:xfrm>
        </p:spPr>
        <p:txBody>
          <a:bodyPr vert="horz" lIns="91440" tIns="45720" rIns="91440" bIns="45720" rtlCol="0" anchor="ctr">
            <a:normAutofit/>
          </a:bodyPr>
          <a:lstStyle/>
          <a:p>
            <a:endParaRPr lang="en-US" sz="2000"/>
          </a:p>
          <a:p>
            <a:r>
              <a:rPr lang="en-US" sz="2000" b="1"/>
              <a:t>mRNA Vaccine Platform</a:t>
            </a:r>
          </a:p>
          <a:p>
            <a:r>
              <a:rPr lang="en-US" sz="2000">
                <a:ea typeface="+mn-lt"/>
                <a:cs typeface="+mn-lt"/>
              </a:rPr>
              <a:t>Fast and flexible vaccine development system. </a:t>
            </a:r>
            <a:endParaRPr lang="en-US" sz="2000"/>
          </a:p>
          <a:p>
            <a:r>
              <a:rPr lang="en-US" sz="2000">
                <a:ea typeface="+mn-lt"/>
                <a:cs typeface="+mn-lt"/>
              </a:rPr>
              <a:t>Uses genetic sequence information rather than growing viruses in laboratories. </a:t>
            </a:r>
            <a:endParaRPr lang="en-US" sz="2000"/>
          </a:p>
          <a:p>
            <a:r>
              <a:rPr lang="en-US" sz="2000">
                <a:ea typeface="+mn-lt"/>
                <a:cs typeface="+mn-lt"/>
              </a:rPr>
              <a:t>Can be adapted rapidly to emerging diseases. </a:t>
            </a:r>
            <a:endParaRPr lang="en-US" sz="2000"/>
          </a:p>
          <a:p>
            <a:r>
              <a:rPr lang="en-US" sz="2000" b="1">
                <a:ea typeface="+mn-lt"/>
                <a:cs typeface="+mn-lt"/>
              </a:rPr>
              <a:t>Advantages</a:t>
            </a:r>
            <a:endParaRPr lang="en-US" sz="2000"/>
          </a:p>
          <a:p>
            <a:r>
              <a:rPr lang="en-US" sz="2000">
                <a:ea typeface="+mn-lt"/>
                <a:cs typeface="+mn-lt"/>
              </a:rPr>
              <a:t>Faster development. </a:t>
            </a:r>
            <a:endParaRPr lang="en-US" sz="2000"/>
          </a:p>
          <a:p>
            <a:r>
              <a:rPr lang="en-US" sz="2000">
                <a:ea typeface="+mn-lt"/>
                <a:cs typeface="+mn-lt"/>
              </a:rPr>
              <a:t>High effectiveness. </a:t>
            </a:r>
            <a:endParaRPr lang="en-US" sz="2000"/>
          </a:p>
          <a:p>
            <a:r>
              <a:rPr lang="en-US" sz="2000">
                <a:ea typeface="+mn-lt"/>
                <a:cs typeface="+mn-lt"/>
              </a:rPr>
              <a:t>Easier modification for new variants. </a:t>
            </a:r>
            <a:endParaRPr lang="en-US" sz="2000"/>
          </a:p>
          <a:p>
            <a:r>
              <a:rPr lang="en-US" sz="2000">
                <a:ea typeface="+mn-lt"/>
                <a:cs typeface="+mn-lt"/>
              </a:rPr>
              <a:t>Potential use beyond vaccines. </a:t>
            </a:r>
            <a:endParaRPr lang="en-US" sz="2000"/>
          </a:p>
          <a:p>
            <a:endParaRPr lang="en-US" sz="2000"/>
          </a:p>
        </p:txBody>
      </p:sp>
    </p:spTree>
    <p:extLst>
      <p:ext uri="{BB962C8B-B14F-4D97-AF65-F5344CB8AC3E}">
        <p14:creationId xmlns:p14="http://schemas.microsoft.com/office/powerpoint/2010/main" val="4089233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4E401-32FD-2F84-DCD9-900A3FA78CF2}"/>
              </a:ext>
            </a:extLst>
          </p:cNvPr>
          <p:cNvSpPr>
            <a:spLocks noGrp="1"/>
          </p:cNvSpPr>
          <p:nvPr>
            <p:ph type="title"/>
          </p:nvPr>
        </p:nvSpPr>
        <p:spPr/>
        <p:txBody>
          <a:bodyPr/>
          <a:lstStyle/>
          <a:p>
            <a:r>
              <a:rPr lang="en-US"/>
              <a:t>COVID-19 VACCINE DEVELOPMENT</a:t>
            </a:r>
          </a:p>
        </p:txBody>
      </p:sp>
      <p:graphicFrame>
        <p:nvGraphicFramePr>
          <p:cNvPr id="5" name="Content Placeholder 2">
            <a:extLst>
              <a:ext uri="{FF2B5EF4-FFF2-40B4-BE49-F238E27FC236}">
                <a16:creationId xmlns:a16="http://schemas.microsoft.com/office/drawing/2014/main" id="{64BEDBDA-68BF-5CB4-4DDA-82B6044A60D0}"/>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7317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6296E8-C665-072D-291D-F566E7768EF3}"/>
              </a:ext>
            </a:extLst>
          </p:cNvPr>
          <p:cNvSpPr>
            <a:spLocks noGrp="1"/>
          </p:cNvSpPr>
          <p:nvPr>
            <p:ph type="title"/>
          </p:nvPr>
        </p:nvSpPr>
        <p:spPr>
          <a:xfrm>
            <a:off x="466722" y="586855"/>
            <a:ext cx="3201366" cy="3387497"/>
          </a:xfrm>
        </p:spPr>
        <p:txBody>
          <a:bodyPr anchor="b">
            <a:normAutofit/>
          </a:bodyPr>
          <a:lstStyle/>
          <a:p>
            <a:pPr algn="r"/>
            <a:r>
              <a:rPr lang="en-US" sz="3700">
                <a:solidFill>
                  <a:srgbClr val="FFFFFF"/>
                </a:solidFill>
              </a:rPr>
              <a:t>APPLICATIONS</a:t>
            </a:r>
          </a:p>
        </p:txBody>
      </p:sp>
      <p:sp>
        <p:nvSpPr>
          <p:cNvPr id="3" name="Content Placeholder 2">
            <a:extLst>
              <a:ext uri="{FF2B5EF4-FFF2-40B4-BE49-F238E27FC236}">
                <a16:creationId xmlns:a16="http://schemas.microsoft.com/office/drawing/2014/main" id="{20B80FDF-C5E2-C2D8-1E4D-78295A74A485}"/>
              </a:ext>
            </a:extLst>
          </p:cNvPr>
          <p:cNvSpPr>
            <a:spLocks noGrp="1"/>
          </p:cNvSpPr>
          <p:nvPr>
            <p:ph idx="1"/>
          </p:nvPr>
        </p:nvSpPr>
        <p:spPr>
          <a:xfrm>
            <a:off x="4810259" y="649480"/>
            <a:ext cx="6555347" cy="5546047"/>
          </a:xfrm>
        </p:spPr>
        <p:txBody>
          <a:bodyPr vert="horz" lIns="91440" tIns="45720" rIns="91440" bIns="45720" rtlCol="0" anchor="ctr">
            <a:normAutofit/>
          </a:bodyPr>
          <a:lstStyle/>
          <a:p>
            <a:pPr>
              <a:buNone/>
            </a:pPr>
            <a:r>
              <a:rPr lang="en-US" sz="1900" b="1"/>
              <a:t>Infectious Diseases</a:t>
            </a:r>
          </a:p>
          <a:p>
            <a:pPr>
              <a:buNone/>
            </a:pPr>
            <a:r>
              <a:rPr lang="en-US" sz="1900">
                <a:ea typeface="+mn-lt"/>
                <a:cs typeface="+mn-lt"/>
              </a:rPr>
              <a:t>The company is developing vaccines against influenza, respiratory syncytial virus (RSV), cytomegalovirus (CMV), and other emerging infectious diseases.</a:t>
            </a:r>
            <a:endParaRPr lang="en-US" sz="1900"/>
          </a:p>
          <a:p>
            <a:pPr>
              <a:buNone/>
            </a:pPr>
            <a:r>
              <a:rPr lang="en-US" sz="1900" b="1"/>
              <a:t>Oncology</a:t>
            </a:r>
          </a:p>
          <a:p>
            <a:pPr>
              <a:buNone/>
            </a:pPr>
            <a:r>
              <a:rPr lang="en-US" sz="1900">
                <a:ea typeface="+mn-lt"/>
                <a:cs typeface="+mn-lt"/>
              </a:rPr>
              <a:t>Moderna is investigating personalized cancer vaccines designed to stimulate the immune system to identify and destroy tumor cells based on individual genetic profiles.</a:t>
            </a:r>
            <a:endParaRPr lang="en-US" sz="1900"/>
          </a:p>
          <a:p>
            <a:pPr>
              <a:buNone/>
            </a:pPr>
            <a:r>
              <a:rPr lang="en-US" sz="1900" b="1"/>
              <a:t>Rare Genetic Disorders</a:t>
            </a:r>
          </a:p>
          <a:p>
            <a:pPr>
              <a:buNone/>
            </a:pPr>
            <a:r>
              <a:rPr lang="en-US" sz="1900">
                <a:ea typeface="+mn-lt"/>
                <a:cs typeface="+mn-lt"/>
              </a:rPr>
              <a:t>Researchers are exploring mRNA therapies capable of replacing missing or defective proteins in patients suffering from inherited genetic diseases.</a:t>
            </a:r>
            <a:endParaRPr lang="en-US" sz="1900"/>
          </a:p>
          <a:p>
            <a:pPr>
              <a:buNone/>
            </a:pPr>
            <a:r>
              <a:rPr lang="en-US" sz="1900" b="1"/>
              <a:t>Cardiovascular and Autoimmune Diseases</a:t>
            </a:r>
          </a:p>
          <a:p>
            <a:pPr>
              <a:buNone/>
            </a:pPr>
            <a:r>
              <a:rPr lang="en-US" sz="1900">
                <a:ea typeface="+mn-lt"/>
                <a:cs typeface="+mn-lt"/>
              </a:rPr>
              <a:t>The platform also has potential applications in treating chronic diseases by regulating protein production within the body.</a:t>
            </a:r>
            <a:endParaRPr lang="en-US" sz="1900"/>
          </a:p>
          <a:p>
            <a:pPr marL="0" indent="0">
              <a:buNone/>
            </a:pPr>
            <a:endParaRPr lang="en-US" sz="1900"/>
          </a:p>
          <a:p>
            <a:endParaRPr lang="en-US" sz="1900"/>
          </a:p>
          <a:p>
            <a:endParaRPr lang="en-US" sz="1900"/>
          </a:p>
        </p:txBody>
      </p:sp>
    </p:spTree>
    <p:extLst>
      <p:ext uri="{BB962C8B-B14F-4D97-AF65-F5344CB8AC3E}">
        <p14:creationId xmlns:p14="http://schemas.microsoft.com/office/powerpoint/2010/main" val="3540231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0D446E-0E10-2699-49E1-E19E803CA7CC}"/>
              </a:ext>
            </a:extLst>
          </p:cNvPr>
          <p:cNvSpPr>
            <a:spLocks noGrp="1"/>
          </p:cNvSpPr>
          <p:nvPr>
            <p:ph type="title"/>
          </p:nvPr>
        </p:nvSpPr>
        <p:spPr>
          <a:xfrm>
            <a:off x="1043631" y="809898"/>
            <a:ext cx="10173010" cy="1554480"/>
          </a:xfrm>
        </p:spPr>
        <p:txBody>
          <a:bodyPr anchor="ctr">
            <a:normAutofit/>
          </a:bodyPr>
          <a:lstStyle/>
          <a:p>
            <a:r>
              <a:rPr lang="en-US" sz="4800"/>
              <a:t>BIOTECHNOLOGY BEHIND INNOVATION</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B0D41048-F142-6510-9752-4AC608A247A0}"/>
              </a:ext>
            </a:extLst>
          </p:cNvPr>
          <p:cNvGraphicFramePr>
            <a:graphicFrameLocks noGrp="1"/>
          </p:cNvGraphicFramePr>
          <p:nvPr>
            <p:ph idx="1"/>
            <p:extLst>
              <p:ext uri="{D42A27DB-BD31-4B8C-83A1-F6EECF244321}">
                <p14:modId xmlns:p14="http://schemas.microsoft.com/office/powerpoint/2010/main" val="2553492617"/>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00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F97401-5EC8-BF1C-834B-E8A4CF1C4B9E}"/>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CHALLENGES</a:t>
            </a:r>
          </a:p>
        </p:txBody>
      </p:sp>
      <p:sp>
        <p:nvSpPr>
          <p:cNvPr id="22" name="Content Placeholder 2">
            <a:extLst>
              <a:ext uri="{FF2B5EF4-FFF2-40B4-BE49-F238E27FC236}">
                <a16:creationId xmlns:a16="http://schemas.microsoft.com/office/drawing/2014/main" id="{1C0CE6DD-B7DA-8419-459F-A70F1140D960}"/>
              </a:ext>
            </a:extLst>
          </p:cNvPr>
          <p:cNvSpPr>
            <a:spLocks noGrp="1"/>
          </p:cNvSpPr>
          <p:nvPr>
            <p:ph idx="1"/>
          </p:nvPr>
        </p:nvSpPr>
        <p:spPr>
          <a:xfrm>
            <a:off x="4810259" y="649480"/>
            <a:ext cx="6555347" cy="5546047"/>
          </a:xfrm>
        </p:spPr>
        <p:txBody>
          <a:bodyPr vert="horz" lIns="91440" tIns="45720" rIns="91440" bIns="45720" rtlCol="0" anchor="ctr">
            <a:normAutofit/>
          </a:bodyPr>
          <a:lstStyle/>
          <a:p>
            <a:endParaRPr lang="en-US" sz="2000"/>
          </a:p>
          <a:p>
            <a:r>
              <a:rPr lang="en-US" sz="2000" b="1"/>
              <a:t>Scientific Challenges</a:t>
            </a:r>
          </a:p>
          <a:p>
            <a:r>
              <a:rPr lang="en-US" sz="2000">
                <a:ea typeface="+mn-lt"/>
                <a:cs typeface="+mn-lt"/>
              </a:rPr>
              <a:t>mRNA instability. </a:t>
            </a:r>
            <a:endParaRPr lang="en-US" sz="2000"/>
          </a:p>
          <a:p>
            <a:r>
              <a:rPr lang="en-US" sz="2000">
                <a:ea typeface="+mn-lt"/>
                <a:cs typeface="+mn-lt"/>
              </a:rPr>
              <a:t>Efficient delivery into cells. </a:t>
            </a:r>
            <a:endParaRPr lang="en-US" sz="2000"/>
          </a:p>
          <a:p>
            <a:r>
              <a:rPr lang="en-US" sz="2000">
                <a:ea typeface="+mn-lt"/>
                <a:cs typeface="+mn-lt"/>
              </a:rPr>
              <a:t>Long-term effectiveness studies. </a:t>
            </a:r>
            <a:endParaRPr lang="en-US" sz="2000"/>
          </a:p>
          <a:p>
            <a:r>
              <a:rPr lang="en-US" sz="2000" b="1"/>
              <a:t>Manufacturing Challenges</a:t>
            </a:r>
          </a:p>
          <a:p>
            <a:r>
              <a:rPr lang="en-US" sz="2000">
                <a:ea typeface="+mn-lt"/>
                <a:cs typeface="+mn-lt"/>
              </a:rPr>
              <a:t>Large-scale production. </a:t>
            </a:r>
            <a:endParaRPr lang="en-US" sz="2000"/>
          </a:p>
          <a:p>
            <a:r>
              <a:rPr lang="en-US" sz="2000">
                <a:ea typeface="+mn-lt"/>
                <a:cs typeface="+mn-lt"/>
              </a:rPr>
              <a:t>Quality control. </a:t>
            </a:r>
            <a:endParaRPr lang="en-US" sz="2000"/>
          </a:p>
          <a:p>
            <a:r>
              <a:rPr lang="en-US" sz="2000">
                <a:ea typeface="+mn-lt"/>
                <a:cs typeface="+mn-lt"/>
              </a:rPr>
              <a:t>Storage and transportation requirements. </a:t>
            </a:r>
            <a:endParaRPr lang="en-US" sz="2000"/>
          </a:p>
          <a:p>
            <a:r>
              <a:rPr lang="en-US" sz="2000" b="1"/>
              <a:t>Regulatory Challenges</a:t>
            </a:r>
          </a:p>
          <a:p>
            <a:r>
              <a:rPr lang="en-US" sz="2000">
                <a:ea typeface="+mn-lt"/>
                <a:cs typeface="+mn-lt"/>
              </a:rPr>
              <a:t>Strict clinical testing. </a:t>
            </a:r>
            <a:endParaRPr lang="en-US" sz="2000"/>
          </a:p>
          <a:p>
            <a:r>
              <a:rPr lang="en-US" sz="2000">
                <a:ea typeface="+mn-lt"/>
                <a:cs typeface="+mn-lt"/>
              </a:rPr>
              <a:t>Safety monitoring. </a:t>
            </a:r>
            <a:endParaRPr lang="en-US" sz="2000"/>
          </a:p>
          <a:p>
            <a:r>
              <a:rPr lang="en-US" sz="2000">
                <a:ea typeface="+mn-lt"/>
                <a:cs typeface="+mn-lt"/>
              </a:rPr>
              <a:t>Regulatory approvals worldwide.</a:t>
            </a:r>
            <a:endParaRPr lang="en-US" sz="2000"/>
          </a:p>
          <a:p>
            <a:endParaRPr lang="en-US" sz="2000"/>
          </a:p>
        </p:txBody>
      </p:sp>
    </p:spTree>
    <p:extLst>
      <p:ext uri="{BB962C8B-B14F-4D97-AF65-F5344CB8AC3E}">
        <p14:creationId xmlns:p14="http://schemas.microsoft.com/office/powerpoint/2010/main" val="3090273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1D134-CAA6-6B4A-72F9-788B8410B1CB}"/>
              </a:ext>
            </a:extLst>
          </p:cNvPr>
          <p:cNvSpPr>
            <a:spLocks noGrp="1"/>
          </p:cNvSpPr>
          <p:nvPr>
            <p:ph type="title"/>
          </p:nvPr>
        </p:nvSpPr>
        <p:spPr/>
        <p:txBody>
          <a:bodyPr/>
          <a:lstStyle/>
          <a:p>
            <a:r>
              <a:rPr lang="en-US"/>
              <a:t>MARKET IMPACT</a:t>
            </a:r>
          </a:p>
        </p:txBody>
      </p:sp>
      <p:graphicFrame>
        <p:nvGraphicFramePr>
          <p:cNvPr id="5" name="Content Placeholder 2">
            <a:extLst>
              <a:ext uri="{FF2B5EF4-FFF2-40B4-BE49-F238E27FC236}">
                <a16:creationId xmlns:a16="http://schemas.microsoft.com/office/drawing/2014/main" id="{AD6F5AEF-E829-F672-3E2C-78A423CCC690}"/>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5664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54CD6-A805-2E52-6170-228D33CBA876}"/>
              </a:ext>
            </a:extLst>
          </p:cNvPr>
          <p:cNvSpPr>
            <a:spLocks noGrp="1"/>
          </p:cNvSpPr>
          <p:nvPr>
            <p:ph type="title"/>
          </p:nvPr>
        </p:nvSpPr>
        <p:spPr/>
        <p:txBody>
          <a:bodyPr/>
          <a:lstStyle/>
          <a:p>
            <a:r>
              <a:rPr lang="en-US"/>
              <a:t>FUTURE PROSPECTS</a:t>
            </a:r>
          </a:p>
        </p:txBody>
      </p:sp>
      <p:graphicFrame>
        <p:nvGraphicFramePr>
          <p:cNvPr id="13" name="Content Placeholder 2">
            <a:extLst>
              <a:ext uri="{FF2B5EF4-FFF2-40B4-BE49-F238E27FC236}">
                <a16:creationId xmlns:a16="http://schemas.microsoft.com/office/drawing/2014/main" id="{1BA08961-F787-3DD6-F964-E602AB4A588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9402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688E8E-93E7-D39D-9886-8ABF50197E86}"/>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SWOT ANALYSIS</a:t>
            </a:r>
          </a:p>
        </p:txBody>
      </p:sp>
      <p:sp>
        <p:nvSpPr>
          <p:cNvPr id="3" name="Content Placeholder 2">
            <a:extLst>
              <a:ext uri="{FF2B5EF4-FFF2-40B4-BE49-F238E27FC236}">
                <a16:creationId xmlns:a16="http://schemas.microsoft.com/office/drawing/2014/main" id="{60AB8E52-BA7A-94AA-44D5-1384F4715A0B}"/>
              </a:ext>
            </a:extLst>
          </p:cNvPr>
          <p:cNvSpPr>
            <a:spLocks noGrp="1"/>
          </p:cNvSpPr>
          <p:nvPr>
            <p:ph idx="1"/>
          </p:nvPr>
        </p:nvSpPr>
        <p:spPr>
          <a:xfrm>
            <a:off x="4810259" y="649480"/>
            <a:ext cx="6555347" cy="5546047"/>
          </a:xfrm>
        </p:spPr>
        <p:txBody>
          <a:bodyPr vert="horz" lIns="91440" tIns="45720" rIns="91440" bIns="45720" rtlCol="0" anchor="ctr">
            <a:normAutofit/>
          </a:bodyPr>
          <a:lstStyle/>
          <a:p>
            <a:pPr marL="0" indent="0">
              <a:buNone/>
            </a:pPr>
            <a:endParaRPr lang="en-US" sz="2000"/>
          </a:p>
          <a:p>
            <a:r>
              <a:rPr lang="en-US" sz="2000" b="1"/>
              <a:t>Strengths</a:t>
            </a:r>
          </a:p>
          <a:p>
            <a:r>
              <a:rPr lang="en-US" sz="2000">
                <a:ea typeface="+mn-lt"/>
                <a:cs typeface="+mn-lt"/>
              </a:rPr>
              <a:t>Innovative mRNA platform. </a:t>
            </a:r>
            <a:endParaRPr lang="en-US" sz="2000"/>
          </a:p>
          <a:p>
            <a:r>
              <a:rPr lang="en-US" sz="2000">
                <a:ea typeface="+mn-lt"/>
                <a:cs typeface="+mn-lt"/>
              </a:rPr>
              <a:t>Strong research capabilities. </a:t>
            </a:r>
            <a:endParaRPr lang="en-US" sz="2000"/>
          </a:p>
          <a:p>
            <a:r>
              <a:rPr lang="en-US" sz="2000">
                <a:ea typeface="+mn-lt"/>
                <a:cs typeface="+mn-lt"/>
              </a:rPr>
              <a:t>Global recognition. </a:t>
            </a:r>
            <a:endParaRPr lang="en-US" sz="2000"/>
          </a:p>
          <a:p>
            <a:r>
              <a:rPr lang="en-US" sz="2000" b="1"/>
              <a:t>Weaknesses</a:t>
            </a:r>
          </a:p>
          <a:p>
            <a:r>
              <a:rPr lang="en-US" sz="2000">
                <a:ea typeface="+mn-lt"/>
                <a:cs typeface="+mn-lt"/>
              </a:rPr>
              <a:t>Dependence on mRNA technology. </a:t>
            </a:r>
            <a:endParaRPr lang="en-US" sz="2000"/>
          </a:p>
          <a:p>
            <a:r>
              <a:rPr lang="en-US" sz="2000">
                <a:ea typeface="+mn-lt"/>
                <a:cs typeface="+mn-lt"/>
              </a:rPr>
              <a:t>High research costs. </a:t>
            </a:r>
            <a:endParaRPr lang="en-US" sz="2000"/>
          </a:p>
          <a:p>
            <a:r>
              <a:rPr lang="en-US" sz="2000" b="1"/>
              <a:t>Opportunities</a:t>
            </a:r>
          </a:p>
          <a:p>
            <a:r>
              <a:rPr lang="en-US" sz="2000">
                <a:ea typeface="+mn-lt"/>
                <a:cs typeface="+mn-lt"/>
              </a:rPr>
              <a:t>Cancer vaccines. </a:t>
            </a:r>
            <a:endParaRPr lang="en-US" sz="2000"/>
          </a:p>
          <a:p>
            <a:r>
              <a:rPr lang="en-US" sz="2000">
                <a:ea typeface="+mn-lt"/>
                <a:cs typeface="+mn-lt"/>
              </a:rPr>
              <a:t>Rare disease treatments. </a:t>
            </a:r>
            <a:endParaRPr lang="en-US" sz="2000"/>
          </a:p>
          <a:p>
            <a:r>
              <a:rPr lang="en-US" sz="2000">
                <a:ea typeface="+mn-lt"/>
                <a:cs typeface="+mn-lt"/>
              </a:rPr>
              <a:t>Global healthcare expansion.</a:t>
            </a:r>
            <a:endParaRPr lang="en-US" sz="2000"/>
          </a:p>
          <a:p>
            <a:endParaRPr lang="en-US" sz="2000"/>
          </a:p>
        </p:txBody>
      </p:sp>
    </p:spTree>
    <p:extLst>
      <p:ext uri="{BB962C8B-B14F-4D97-AF65-F5344CB8AC3E}">
        <p14:creationId xmlns:p14="http://schemas.microsoft.com/office/powerpoint/2010/main" val="3152121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700A8EED-EC24-4D50-2696-CB245A496B2A}"/>
              </a:ext>
            </a:extLst>
          </p:cNvPr>
          <p:cNvSpPr>
            <a:spLocks noGrp="1"/>
          </p:cNvSpPr>
          <p:nvPr>
            <p:ph type="title"/>
          </p:nvPr>
        </p:nvSpPr>
        <p:spPr>
          <a:xfrm>
            <a:off x="6094105" y="802955"/>
            <a:ext cx="4977976" cy="1454051"/>
          </a:xfrm>
        </p:spPr>
        <p:txBody>
          <a:bodyPr>
            <a:normAutofit/>
          </a:bodyPr>
          <a:lstStyle/>
          <a:p>
            <a:r>
              <a:rPr lang="en-US" sz="3600">
                <a:solidFill>
                  <a:schemeClr val="tx2"/>
                </a:solidFill>
              </a:rPr>
              <a:t>CONCLUSION</a:t>
            </a:r>
          </a:p>
        </p:txBody>
      </p:sp>
      <p:pic>
        <p:nvPicPr>
          <p:cNvPr id="29" name="Graphic 28" descr="DNA">
            <a:extLst>
              <a:ext uri="{FF2B5EF4-FFF2-40B4-BE49-F238E27FC236}">
                <a16:creationId xmlns:a16="http://schemas.microsoft.com/office/drawing/2014/main" id="{0EECBEAB-CC9A-24E2-6596-FDDDCAA51A4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D238FD20-9852-FD6F-0086-68CA605C1F54}"/>
              </a:ext>
            </a:extLst>
          </p:cNvPr>
          <p:cNvSpPr>
            <a:spLocks noGrp="1"/>
          </p:cNvSpPr>
          <p:nvPr>
            <p:ph idx="1"/>
          </p:nvPr>
        </p:nvSpPr>
        <p:spPr>
          <a:xfrm>
            <a:off x="6090574" y="2421682"/>
            <a:ext cx="4977578" cy="3639289"/>
          </a:xfrm>
        </p:spPr>
        <p:txBody>
          <a:bodyPr vert="horz" lIns="91440" tIns="45720" rIns="91440" bIns="45720" rtlCol="0" anchor="ctr">
            <a:normAutofit/>
          </a:bodyPr>
          <a:lstStyle/>
          <a:p>
            <a:pPr marL="0" indent="0">
              <a:buNone/>
            </a:pPr>
            <a:endParaRPr lang="en-US" sz="1800">
              <a:solidFill>
                <a:schemeClr val="tx2"/>
              </a:solidFill>
            </a:endParaRPr>
          </a:p>
          <a:p>
            <a:r>
              <a:rPr lang="en-US" sz="1800">
                <a:solidFill>
                  <a:schemeClr val="tx2"/>
                </a:solidFill>
                <a:ea typeface="+mn-lt"/>
                <a:cs typeface="+mn-lt"/>
              </a:rPr>
              <a:t>Moderna transformed biotechnology through mRNA-based medicine. </a:t>
            </a:r>
            <a:endParaRPr lang="en-US" sz="1800">
              <a:solidFill>
                <a:schemeClr val="tx2"/>
              </a:solidFill>
            </a:endParaRPr>
          </a:p>
          <a:p>
            <a:r>
              <a:rPr lang="en-US" sz="1800">
                <a:solidFill>
                  <a:schemeClr val="tx2"/>
                </a:solidFill>
                <a:ea typeface="+mn-lt"/>
                <a:cs typeface="+mn-lt"/>
              </a:rPr>
              <a:t>Its COVID-19 vaccine demonstrated the practical success of mRNA technology. </a:t>
            </a:r>
            <a:endParaRPr lang="en-US" sz="1800">
              <a:solidFill>
                <a:schemeClr val="tx2"/>
              </a:solidFill>
            </a:endParaRPr>
          </a:p>
          <a:p>
            <a:r>
              <a:rPr lang="en-US" sz="1800">
                <a:solidFill>
                  <a:schemeClr val="tx2"/>
                </a:solidFill>
                <a:ea typeface="+mn-lt"/>
                <a:cs typeface="+mn-lt"/>
              </a:rPr>
              <a:t>The company continues to expand into cancer treatment, rare diseases, and next-generation vaccines. </a:t>
            </a:r>
            <a:endParaRPr lang="en-US" sz="1800">
              <a:solidFill>
                <a:schemeClr val="tx2"/>
              </a:solidFill>
            </a:endParaRPr>
          </a:p>
          <a:p>
            <a:r>
              <a:rPr lang="en-US" sz="1800">
                <a:solidFill>
                  <a:schemeClr val="tx2"/>
                </a:solidFill>
                <a:ea typeface="+mn-lt"/>
                <a:cs typeface="+mn-lt"/>
              </a:rPr>
              <a:t>Moderna's innovations have significantly influenced modern biotechnology and global healthcare.</a:t>
            </a:r>
            <a:endParaRPr lang="en-US" sz="1800">
              <a:solidFill>
                <a:schemeClr val="tx2"/>
              </a:solidFill>
            </a:endParaRPr>
          </a:p>
          <a:p>
            <a:endParaRPr lang="en-US" sz="1800">
              <a:solidFill>
                <a:schemeClr val="tx2"/>
              </a:solidFill>
            </a:endParaRPr>
          </a:p>
        </p:txBody>
      </p:sp>
      <p:grpSp>
        <p:nvGrpSpPr>
          <p:cNvPr id="30" name="Group 29">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7" name="Freeform: Shape 16">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988178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Case Study Analysis   Moderna: Revolutionizing Healthcare Through mRNA Biotechnology  </vt:lpstr>
      <vt:lpstr>INTRODUCTION TO MODERNA</vt:lpstr>
      <vt:lpstr>MRNA TECHNOLOGY</vt:lpstr>
      <vt:lpstr>MAJOR INNOVATION</vt:lpstr>
      <vt:lpstr>COVID-19 VACCINE DEVELOPMENT</vt:lpstr>
      <vt:lpstr>APPLICATIONS</vt:lpstr>
      <vt:lpstr>BIOTECHNOLOGY BEHIND INNOVATION</vt:lpstr>
      <vt:lpstr>CHALLENGES</vt:lpstr>
      <vt:lpstr>MARKET IMPACT</vt:lpstr>
      <vt:lpstr>FUTURE PROSPECTS</vt:lpstr>
      <vt:lpstr>SWOT ANALYSIS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106</cp:revision>
  <dcterms:created xsi:type="dcterms:W3CDTF">2013-07-15T20:26:40Z</dcterms:created>
  <dcterms:modified xsi:type="dcterms:W3CDTF">2026-06-16T17:59:28Z</dcterms:modified>
</cp:coreProperties>
</file>